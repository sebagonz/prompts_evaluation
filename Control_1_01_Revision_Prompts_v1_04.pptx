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3B1DE-1655-D640-84A4-ABE4D931476F}" v="2" dt="2026-09-25T16:13:23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62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Gonzalez" userId="cd35f73b-a233-4147-a8fc-94b604608bd0" providerId="ADAL" clId="{DD4EB018-CC74-5248-B280-6CF7564900CB}"/>
    <pc:docChg chg="custSel modSld">
      <pc:chgData name="Sebastian Gonzalez" userId="cd35f73b-a233-4147-a8fc-94b604608bd0" providerId="ADAL" clId="{DD4EB018-CC74-5248-B280-6CF7564900CB}" dt="2026-09-25T16:13:37.517" v="58" actId="20577"/>
      <pc:docMkLst>
        <pc:docMk/>
      </pc:docMkLst>
      <pc:sldChg chg="modSp mod">
        <pc:chgData name="Sebastian Gonzalez" userId="cd35f73b-a233-4147-a8fc-94b604608bd0" providerId="ADAL" clId="{DD4EB018-CC74-5248-B280-6CF7564900CB}" dt="2026-09-25T16:13:09.588" v="42" actId="27636"/>
        <pc:sldMkLst>
          <pc:docMk/>
          <pc:sldMk cId="0" sldId="257"/>
        </pc:sldMkLst>
        <pc:spChg chg="mod">
          <ac:chgData name="Sebastian Gonzalez" userId="cd35f73b-a233-4147-a8fc-94b604608bd0" providerId="ADAL" clId="{DD4EB018-CC74-5248-B280-6CF7564900CB}" dt="2026-09-25T16:12:54.481" v="32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ebastian Gonzalez" userId="cd35f73b-a233-4147-a8fc-94b604608bd0" providerId="ADAL" clId="{DD4EB018-CC74-5248-B280-6CF7564900CB}" dt="2026-09-25T16:13:09.588" v="42" actId="276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ebastian Gonzalez" userId="cd35f73b-a233-4147-a8fc-94b604608bd0" providerId="ADAL" clId="{DD4EB018-CC74-5248-B280-6CF7564900CB}" dt="2026-09-25T16:13:09.586" v="41" actId="27636"/>
          <ac:spMkLst>
            <pc:docMk/>
            <pc:sldMk cId="0" sldId="257"/>
            <ac:spMk id="28" creationId="{00000000-0000-0000-0000-000000000000}"/>
          </ac:spMkLst>
        </pc:spChg>
      </pc:sldChg>
      <pc:sldChg chg="addSp delSp modSp mod">
        <pc:chgData name="Sebastian Gonzalez" userId="cd35f73b-a233-4147-a8fc-94b604608bd0" providerId="ADAL" clId="{DD4EB018-CC74-5248-B280-6CF7564900CB}" dt="2026-09-25T16:13:37.517" v="58" actId="20577"/>
        <pc:sldMkLst>
          <pc:docMk/>
          <pc:sldMk cId="0" sldId="258"/>
        </pc:sldMkLst>
        <pc:spChg chg="mod">
          <ac:chgData name="Sebastian Gonzalez" userId="cd35f73b-a233-4147-a8fc-94b604608bd0" providerId="ADAL" clId="{DD4EB018-CC74-5248-B280-6CF7564900CB}" dt="2026-09-25T16:13:25.874" v="48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Sebastian Gonzalez" userId="cd35f73b-a233-4147-a8fc-94b604608bd0" providerId="ADAL" clId="{DD4EB018-CC74-5248-B280-6CF7564900CB}" dt="2026-09-25T16:13:37.517" v="58" actId="20577"/>
          <ac:spMkLst>
            <pc:docMk/>
            <pc:sldMk cId="0" sldId="258"/>
            <ac:spMk id="13" creationId="{00000000-0000-0000-0000-000000000000}"/>
          </ac:spMkLst>
        </pc:spChg>
        <pc:spChg chg="add del mod">
          <ac:chgData name="Sebastian Gonzalez" userId="cd35f73b-a233-4147-a8fc-94b604608bd0" providerId="ADAL" clId="{DD4EB018-CC74-5248-B280-6CF7564900CB}" dt="2026-09-25T16:13:21.816" v="46"/>
          <ac:spMkLst>
            <pc:docMk/>
            <pc:sldMk cId="0" sldId="258"/>
            <ac:spMk id="17" creationId="{F7680E2A-7C8F-A809-33A0-F1DC26E6BC28}"/>
          </ac:spMkLst>
        </pc:spChg>
        <pc:spChg chg="add del mod">
          <ac:chgData name="Sebastian Gonzalez" userId="cd35f73b-a233-4147-a8fc-94b604608bd0" providerId="ADAL" clId="{DD4EB018-CC74-5248-B280-6CF7564900CB}" dt="2026-09-25T16:13:29.797" v="50"/>
          <ac:spMkLst>
            <pc:docMk/>
            <pc:sldMk cId="0" sldId="258"/>
            <ac:spMk id="18" creationId="{100C96DD-3575-6AB7-210A-A613934046EB}"/>
          </ac:spMkLst>
        </pc:spChg>
      </pc:sldChg>
      <pc:sldChg chg="modSp mod">
        <pc:chgData name="Sebastian Gonzalez" userId="cd35f73b-a233-4147-a8fc-94b604608bd0" providerId="ADAL" clId="{DD4EB018-CC74-5248-B280-6CF7564900CB}" dt="2026-09-25T16:13:09.552" v="34" actId="27636"/>
        <pc:sldMkLst>
          <pc:docMk/>
          <pc:sldMk cId="0" sldId="262"/>
        </pc:sldMkLst>
        <pc:spChg chg="mod">
          <ac:chgData name="Sebastian Gonzalez" userId="cd35f73b-a233-4147-a8fc-94b604608bd0" providerId="ADAL" clId="{DD4EB018-CC74-5248-B280-6CF7564900CB}" dt="2026-09-25T16:13:09.552" v="34" actId="27636"/>
          <ac:spMkLst>
            <pc:docMk/>
            <pc:sldMk cId="0" sldId="262"/>
            <ac:spMk id="24" creationId="{00000000-0000-0000-0000-000000000000}"/>
          </ac:spMkLst>
        </pc:spChg>
      </pc:sldChg>
      <pc:sldChg chg="modSp mod">
        <pc:chgData name="Sebastian Gonzalez" userId="cd35f73b-a233-4147-a8fc-94b604608bd0" providerId="ADAL" clId="{DD4EB018-CC74-5248-B280-6CF7564900CB}" dt="2026-09-25T16:13:09.557" v="35" actId="27636"/>
        <pc:sldMkLst>
          <pc:docMk/>
          <pc:sldMk cId="0" sldId="263"/>
        </pc:sldMkLst>
        <pc:spChg chg="mod">
          <ac:chgData name="Sebastian Gonzalez" userId="cd35f73b-a233-4147-a8fc-94b604608bd0" providerId="ADAL" clId="{DD4EB018-CC74-5248-B280-6CF7564900CB}" dt="2026-09-25T16:13:09.557" v="35" actId="27636"/>
          <ac:spMkLst>
            <pc:docMk/>
            <pc:sldMk cId="0" sldId="263"/>
            <ac:spMk id="14" creationId="{00000000-0000-0000-0000-000000000000}"/>
          </ac:spMkLst>
        </pc:spChg>
      </pc:sldChg>
      <pc:sldChg chg="modSp mod">
        <pc:chgData name="Sebastian Gonzalez" userId="cd35f73b-a233-4147-a8fc-94b604608bd0" providerId="ADAL" clId="{DD4EB018-CC74-5248-B280-6CF7564900CB}" dt="2026-09-25T16:13:09.561" v="36" actId="27636"/>
        <pc:sldMkLst>
          <pc:docMk/>
          <pc:sldMk cId="0" sldId="264"/>
        </pc:sldMkLst>
        <pc:spChg chg="mod">
          <ac:chgData name="Sebastian Gonzalez" userId="cd35f73b-a233-4147-a8fc-94b604608bd0" providerId="ADAL" clId="{DD4EB018-CC74-5248-B280-6CF7564900CB}" dt="2026-09-25T16:13:09.561" v="36" actId="27636"/>
          <ac:spMkLst>
            <pc:docMk/>
            <pc:sldMk cId="0" sldId="264"/>
            <ac:spMk id="32" creationId="{00000000-0000-0000-0000-000000000000}"/>
          </ac:spMkLst>
        </pc:spChg>
      </pc:sldChg>
      <pc:sldChg chg="modSp mod">
        <pc:chgData name="Sebastian Gonzalez" userId="cd35f73b-a233-4147-a8fc-94b604608bd0" providerId="ADAL" clId="{DD4EB018-CC74-5248-B280-6CF7564900CB}" dt="2026-09-25T16:13:09.566" v="37" actId="27636"/>
        <pc:sldMkLst>
          <pc:docMk/>
          <pc:sldMk cId="0" sldId="265"/>
        </pc:sldMkLst>
        <pc:spChg chg="mod">
          <ac:chgData name="Sebastian Gonzalez" userId="cd35f73b-a233-4147-a8fc-94b604608bd0" providerId="ADAL" clId="{DD4EB018-CC74-5248-B280-6CF7564900CB}" dt="2026-09-25T16:13:09.566" v="37" actId="27636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Sebastian Gonzalez" userId="cd35f73b-a233-4147-a8fc-94b604608bd0" providerId="ADAL" clId="{DD4EB018-CC74-5248-B280-6CF7564900CB}" dt="2026-09-25T16:13:09.569" v="38" actId="27636"/>
        <pc:sldMkLst>
          <pc:docMk/>
          <pc:sldMk cId="0" sldId="266"/>
        </pc:sldMkLst>
        <pc:spChg chg="mod">
          <ac:chgData name="Sebastian Gonzalez" userId="cd35f73b-a233-4147-a8fc-94b604608bd0" providerId="ADAL" clId="{DD4EB018-CC74-5248-B280-6CF7564900CB}" dt="2026-09-25T16:13:09.569" v="38" actId="27636"/>
          <ac:spMkLst>
            <pc:docMk/>
            <pc:sldMk cId="0" sldId="266"/>
            <ac:spMk id="29" creationId="{00000000-0000-0000-0000-000000000000}"/>
          </ac:spMkLst>
        </pc:spChg>
      </pc:sldChg>
      <pc:sldChg chg="modSp mod">
        <pc:chgData name="Sebastian Gonzalez" userId="cd35f73b-a233-4147-a8fc-94b604608bd0" providerId="ADAL" clId="{DD4EB018-CC74-5248-B280-6CF7564900CB}" dt="2026-09-25T16:13:09.577" v="39" actId="27636"/>
        <pc:sldMkLst>
          <pc:docMk/>
          <pc:sldMk cId="0" sldId="267"/>
        </pc:sldMkLst>
        <pc:spChg chg="mod">
          <ac:chgData name="Sebastian Gonzalez" userId="cd35f73b-a233-4147-a8fc-94b604608bd0" providerId="ADAL" clId="{DD4EB018-CC74-5248-B280-6CF7564900CB}" dt="2026-09-25T16:13:09.577" v="39" actId="27636"/>
          <ac:spMkLst>
            <pc:docMk/>
            <pc:sldMk cId="0" sldId="267"/>
            <ac:spMk id="50" creationId="{00000000-0000-0000-0000-000000000000}"/>
          </ac:spMkLst>
        </pc:spChg>
      </pc:sldChg>
      <pc:sldChg chg="modSp mod">
        <pc:chgData name="Sebastian Gonzalez" userId="cd35f73b-a233-4147-a8fc-94b604608bd0" providerId="ADAL" clId="{DD4EB018-CC74-5248-B280-6CF7564900CB}" dt="2026-09-25T16:13:09.581" v="40" actId="27636"/>
        <pc:sldMkLst>
          <pc:docMk/>
          <pc:sldMk cId="0" sldId="268"/>
        </pc:sldMkLst>
        <pc:spChg chg="mod">
          <ac:chgData name="Sebastian Gonzalez" userId="cd35f73b-a233-4147-a8fc-94b604608bd0" providerId="ADAL" clId="{DD4EB018-CC74-5248-B280-6CF7564900CB}" dt="2026-09-25T16:13:09.581" v="40" actId="27636"/>
          <ac:spMkLst>
            <pc:docMk/>
            <pc:sldMk cId="0" sldId="268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15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FD5E3"/>
                </a:solidFill>
              </a:rPr>
              <a:t>Control 1.01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Revisión de seguridad de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Prompts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971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7F0"/>
                </a:solidFill>
              </a:rPr>
              <a:t>Propuesta de arquitectura · énfasis en baseline determinística sin LLM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977640"/>
            <a:ext cx="4709160" cy="621792"/>
          </a:xfrm>
          <a:prstGeom prst="roundRect">
            <a:avLst/>
          </a:prstGeom>
          <a:solidFill>
            <a:srgbClr val="173142"/>
          </a:solidFill>
          <a:ln w="12700">
            <a:solidFill>
              <a:srgbClr val="D7E7F0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6"/>
          <p:cNvSpPr/>
          <p:nvPr/>
        </p:nvSpPr>
        <p:spPr>
          <a:xfrm>
            <a:off x="896112" y="417880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Versión documental 1.04 · 25 de septiembre de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GenAI Pipelines · Banco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</a:t>
            </a: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gral</a:t>
            </a: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800" b="1" dirty="0" err="1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La Propuesta 1 es el objetivo actual de productivización; la Propuesta 2 queda como evolución condicional.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7F2ED"/>
          </a:solidFill>
          <a:ln w="1397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/>
          <p:nvPr/>
        </p:nvSpPr>
        <p:spPr>
          <a:xfrm>
            <a:off x="868680" y="1655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8F75"/>
                </a:solidFill>
              </a:rPr>
              <a:t>P1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207568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37D"/>
                </a:solidFill>
              </a:rPr>
              <a:t>Baseline corporativa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8F1F7"/>
          </a:solidFill>
          <a:ln w="13970">
            <a:solidFill>
              <a:srgbClr val="6C8FA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/>
          <p:nvPr/>
        </p:nvSpPr>
        <p:spPr>
          <a:xfrm>
            <a:off x="3063240" y="1655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8FA5"/>
                </a:solidFill>
              </a:rPr>
              <a:t>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90672" y="207568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37D"/>
                </a:solidFill>
              </a:rPr>
              <a:t>Infraestructura de inferencia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120640" y="150876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7EFD9"/>
          </a:solidFill>
          <a:ln w="13970">
            <a:solidFill>
              <a:srgbClr val="AF852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5257800" y="1655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F852C"/>
                </a:solidFill>
              </a:rPr>
              <a:t>CI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85232" y="207568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37D"/>
                </a:solidFill>
              </a:rPr>
              <a:t>Enforcement principal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315200" y="150876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EFE8F7"/>
          </a:solidFill>
          <a:ln w="13970">
            <a:solidFill>
              <a:srgbClr val="8066A3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6" name="Text 14"/>
          <p:cNvSpPr/>
          <p:nvPr/>
        </p:nvSpPr>
        <p:spPr>
          <a:xfrm>
            <a:off x="7452360" y="1655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066A3"/>
                </a:solidFill>
              </a:rPr>
              <a:t>LLM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79792" y="2075688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37D"/>
                </a:solidFill>
              </a:rPr>
              <a:t>Sólo si mide valor incremental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10789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D0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7"/>
          <p:cNvSpPr/>
          <p:nvPr/>
        </p:nvSpPr>
        <p:spPr>
          <a:xfrm>
            <a:off x="960120" y="3063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37D"/>
                </a:solidFill>
              </a:rPr>
              <a:t>Tesis central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298094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3A4D"/>
                </a:solidFill>
              </a:rPr>
              <a:t>Cerrar primero una baseline determinística, explicable y auditable; no sumar complejidad semántica hasta medir una mejora clara sobre corpus interno.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3429000" cy="502920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2" name="Text 20"/>
          <p:cNvSpPr/>
          <p:nvPr/>
        </p:nvSpPr>
        <p:spPr>
          <a:xfrm>
            <a:off x="804672" y="4416552"/>
            <a:ext cx="328269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Ahora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4343400"/>
            <a:ext cx="3429000" cy="502920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2"/>
          <p:cNvSpPr/>
          <p:nvPr/>
        </p:nvSpPr>
        <p:spPr>
          <a:xfrm>
            <a:off x="4233672" y="4416552"/>
            <a:ext cx="328269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Después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4343400"/>
            <a:ext cx="3429000" cy="502920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6" name="Text 24"/>
          <p:cNvSpPr/>
          <p:nvPr/>
        </p:nvSpPr>
        <p:spPr>
          <a:xfrm>
            <a:off x="7662672" y="4416552"/>
            <a:ext cx="328269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Fuera del alcance de 1.01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846320"/>
            <a:ext cx="3429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8" name="Text 26"/>
          <p:cNvSpPr/>
          <p:nvPr/>
        </p:nvSpPr>
        <p:spPr>
          <a:xfrm>
            <a:off x="804672" y="4910328"/>
            <a:ext cx="328269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PromptSonar + pi_scan.py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Normalizer + policy gate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SARIF + SonarQube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4846320"/>
            <a:ext cx="3429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0" name="Text 28"/>
          <p:cNvSpPr/>
          <p:nvPr/>
        </p:nvSpPr>
        <p:spPr>
          <a:xfrm>
            <a:off x="4233672" y="4910328"/>
            <a:ext cx="328269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Reviewer semántico local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sólo si hay métricas de beneficio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4846320"/>
            <a:ext cx="3429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2" name="Text 30"/>
          <p:cNvSpPr/>
          <p:nvPr/>
        </p:nvSpPr>
        <p:spPr>
          <a:xfrm>
            <a:off x="7662672" y="4910328"/>
            <a:ext cx="328269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Exploitability real / red-team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</a:rPr>
              <a:t>corresponde a evals dinámicos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del control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Revisión pre-deploy de system prompts y prompt templates antes del primer deploy y ante cada cambio.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846320" cy="2788920"/>
          </a:xfrm>
          <a:prstGeom prst="roundRect">
            <a:avLst>
              <a:gd name="adj" fmla="val 2623"/>
            </a:avLst>
          </a:prstGeom>
          <a:solidFill>
            <a:srgbClr val="E7F2ED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/>
          <p:nvPr/>
        </p:nvSpPr>
        <p:spPr>
          <a:xfrm>
            <a:off x="850392" y="1563624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Lo que cubre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920240"/>
            <a:ext cx="451713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• Prompt injection y jailbreaks explícitos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• Divulgación de información del sistema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• Comportamientos no autorizados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• Secrets, PII, privileged sinks y exceso de agencia explícito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E8F1F7"/>
          </a:solidFill>
          <a:ln w="12700">
            <a:solidFill>
              <a:srgbClr val="6C8FA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/>
          <p:nvPr/>
        </p:nvSpPr>
        <p:spPr>
          <a:xfrm>
            <a:off x="5971032" y="1563624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Principio de diseño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71032" y="1920240"/>
            <a:ext cx="515721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El system prompt no debe actuar como secreto ni como mecanismo de autorización. Los controles sensibles deben vivir fuera del modelo: Agent Harness, policy engine, tool gateway, sandbox y approvals.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4800600"/>
            <a:ext cx="98755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0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1417320" y="5010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6B6D"/>
                </a:solidFill>
              </a:rPr>
              <a:t>No objetivo de 1.01 estático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497433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4D"/>
                </a:solidFill>
              </a:rPr>
              <a:t>demostrar exploitability real contra el modelo o la aplicación ejecutándose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1 — arquitectura baseline sin LLM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CPU only · sin model server · sin egress durante el scan · evidencia SARIF trazable.</a:t>
            </a:r>
            <a:endParaRPr lang="en-US" sz="1250" dirty="0"/>
          </a:p>
        </p:txBody>
      </p:sp>
      <p:pic>
        <p:nvPicPr>
          <p:cNvPr id="6" name="Image 0" descr="/mnt/data/docx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536" y="1234440"/>
            <a:ext cx="4141807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32588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6C8FA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5"/>
          <p:cNvSpPr/>
          <p:nvPr/>
        </p:nvSpPr>
        <p:spPr>
          <a:xfrm>
            <a:off x="6839712" y="1472184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Lectura arquitectural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39712" y="1828800"/>
            <a:ext cx="4151376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1. Descubre sólo prompts/**/*.txt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2. Ejecuta PromptSonar y pi_scan.py en paralelo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3. Normaliza findings y severidades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4. Decide en CI: PASS / REVIEW / BLOCK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5. Conserva SARIF + evidence bundle en SonarQube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6675120" y="475488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E7F2ED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8"/>
          <p:cNvSpPr/>
          <p:nvPr/>
        </p:nvSpPr>
        <p:spPr>
          <a:xfrm>
            <a:off x="6839712" y="4901184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Razón de preferencia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39712" y="5257800"/>
            <a:ext cx="41513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La evidencia es estable, reproducible y explicable; no depende de inferencia ni de disponibilidad de un modelo.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Roles de las herramientas en la baseline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No compiten: cubren capas complementarias del mismo control.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E7F2ED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/>
          <p:nvPr/>
        </p:nvSpPr>
        <p:spPr>
          <a:xfrm>
            <a:off x="94183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D8F75"/>
                </a:solidFill>
              </a:rPr>
              <a:t>PromptSonar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828800"/>
            <a:ext cx="3099816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Security pattern scanner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Injection / jailbreak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Unicode, Base64, homoglyphs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Secrets / PII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Unbounded access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Workflow escalation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Privileged sinks / MCP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E8F1F7"/>
          </a:solidFill>
          <a:ln w="12700">
            <a:solidFill>
              <a:srgbClr val="6C8FA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/>
          <p:nvPr/>
        </p:nvSpPr>
        <p:spPr>
          <a:xfrm>
            <a:off x="455371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8FA5"/>
                </a:solidFill>
              </a:rPr>
              <a:t>pi_scan.py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53712" y="1828800"/>
            <a:ext cx="3099816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System-prompt hardening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Instruction hierarchy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Non-disclosure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Untrusted content handling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Authority spoofing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Confirmation gates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Sandbox / memory rules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001000" y="132588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7EFD9"/>
          </a:solidFill>
          <a:ln w="12700">
            <a:solidFill>
              <a:srgbClr val="AF852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8165592" y="1472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F852C"/>
                </a:solidFill>
              </a:rPr>
              <a:t>Normalizer + policy gate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65592" y="1828800"/>
            <a:ext cx="3099816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Decisión bancaria gobernable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Deduplicación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Mapping de severidad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Excepciones versionadas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Evidencia de controles externos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• Acción: BLOCK / REVIEW / WARN / PASS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Cobertura de la Propuesta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Fuerte en riesgos determinísticos; explícita sobre sus límites semánticos.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703320" cy="621792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/>
          <p:nvPr/>
        </p:nvSpPr>
        <p:spPr>
          <a:xfrm>
            <a:off x="667512" y="1490472"/>
            <a:ext cx="35570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Alta / BLOCK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703320" cy="621792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4370832" y="1490472"/>
            <a:ext cx="35570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REVIEW por contexto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01000" y="1417320"/>
            <a:ext cx="3703320" cy="621792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9"/>
          <p:cNvSpPr/>
          <p:nvPr/>
        </p:nvSpPr>
        <p:spPr>
          <a:xfrm>
            <a:off x="8074152" y="1490472"/>
            <a:ext cx="35570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Gap o fuera de 1.01 estático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94360" y="2039112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667512" y="2103120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A96B6D"/>
                </a:solidFill>
              </a:rPr>
              <a:t>Secrets / API keys / tokens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2039112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3"/>
          <p:cNvSpPr/>
          <p:nvPr/>
        </p:nvSpPr>
        <p:spPr>
          <a:xfrm>
            <a:off x="4370832" y="2103120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Falta de instruction hierarchy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01000" y="2039112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Text 15"/>
          <p:cNvSpPr/>
          <p:nvPr/>
        </p:nvSpPr>
        <p:spPr>
          <a:xfrm>
            <a:off x="8074152" y="2103120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Disclosure implícito / contextual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2660904"/>
            <a:ext cx="3703320" cy="621792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7"/>
          <p:cNvSpPr/>
          <p:nvPr/>
        </p:nvSpPr>
        <p:spPr>
          <a:xfrm>
            <a:off x="667512" y="2724912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Override explícito / “ignore previous”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2660904"/>
            <a:ext cx="3703320" cy="621792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1" name="Text 19"/>
          <p:cNvSpPr/>
          <p:nvPr/>
        </p:nvSpPr>
        <p:spPr>
          <a:xfrm>
            <a:off x="4370832" y="2724912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Falta de non-disclosure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01000" y="2660904"/>
            <a:ext cx="3703320" cy="621792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Text 21"/>
          <p:cNvSpPr/>
          <p:nvPr/>
        </p:nvSpPr>
        <p:spPr>
          <a:xfrm>
            <a:off x="8074152" y="2724912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Permisos vagos / agencia implícita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282696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5" name="Text 23"/>
          <p:cNvSpPr/>
          <p:nvPr/>
        </p:nvSpPr>
        <p:spPr>
          <a:xfrm>
            <a:off x="667512" y="3346704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Untrusted input → privileged action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97680" y="3282696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7" name="Text 25"/>
          <p:cNvSpPr/>
          <p:nvPr/>
        </p:nvSpPr>
        <p:spPr>
          <a:xfrm>
            <a:off x="4370832" y="3346704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Delimitadores ausentes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01000" y="3282696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9" name="Text 27"/>
          <p:cNvSpPr/>
          <p:nvPr/>
        </p:nvSpPr>
        <p:spPr>
          <a:xfrm>
            <a:off x="8074152" y="3346704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Contradicciones complejas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3904488"/>
            <a:ext cx="3703320" cy="621792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1" name="Text 29"/>
          <p:cNvSpPr/>
          <p:nvPr/>
        </p:nvSpPr>
        <p:spPr>
          <a:xfrm>
            <a:off x="667512" y="3968496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Bypass explícito de aprobación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3904488"/>
            <a:ext cx="3703320" cy="621792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3" name="Text 31"/>
          <p:cNvSpPr/>
          <p:nvPr/>
        </p:nvSpPr>
        <p:spPr>
          <a:xfrm>
            <a:off x="4370832" y="3968496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Output scope amplio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01000" y="3904488"/>
            <a:ext cx="3703320" cy="621792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5" name="Text 33"/>
          <p:cNvSpPr/>
          <p:nvPr/>
        </p:nvSpPr>
        <p:spPr>
          <a:xfrm>
            <a:off x="8074152" y="3968496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Exploitability real / red-team dinámico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" y="4526280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7" name="Text 35"/>
          <p:cNvSpPr/>
          <p:nvPr/>
        </p:nvSpPr>
        <p:spPr>
          <a:xfrm>
            <a:off x="667512" y="4590288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Unbounded access / grants explícitos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97680" y="4526280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9" name="Text 37"/>
          <p:cNvSpPr/>
          <p:nvPr/>
        </p:nvSpPr>
        <p:spPr>
          <a:xfrm>
            <a:off x="4370832" y="4590288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Palabras “shell/payment/email” sin contexto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01000" y="4526280"/>
            <a:ext cx="3703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1" name="Text 39"/>
          <p:cNvSpPr/>
          <p:nvPr/>
        </p:nvSpPr>
        <p:spPr>
          <a:xfrm>
            <a:off x="8074152" y="4590288"/>
            <a:ext cx="355701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</a:rPr>
              <a:t>Ataque contra aplicación ejecutándose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22960" y="5623560"/>
            <a:ext cx="10515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0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3" name="Text 41"/>
          <p:cNvSpPr/>
          <p:nvPr/>
        </p:nvSpPr>
        <p:spPr>
          <a:xfrm>
            <a:off x="1051560" y="5769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37D"/>
                </a:solidFill>
              </a:rPr>
              <a:t>Lectura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377440" y="5724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4D"/>
                </a:solidFill>
              </a:rPr>
              <a:t>P1 es suficiente como baseline; sus gaps son acotados y medibles.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gate: la severidad del scanner no es la decisión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El control corporativo debe interpretar rule_id, evidencia, contexto funcional y controles compensatorios.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280160" y="2377440"/>
            <a:ext cx="1554480" cy="0"/>
          </a:xfrm>
          <a:prstGeom prst="line">
            <a:avLst/>
          </a:prstGeom>
          <a:noFill/>
          <a:ln w="20320">
            <a:solidFill>
              <a:srgbClr val="66737D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7" name="Shape 5"/>
          <p:cNvSpPr/>
          <p:nvPr/>
        </p:nvSpPr>
        <p:spPr>
          <a:xfrm>
            <a:off x="4160520" y="2377440"/>
            <a:ext cx="1554480" cy="0"/>
          </a:xfrm>
          <a:prstGeom prst="line">
            <a:avLst/>
          </a:prstGeom>
          <a:noFill/>
          <a:ln w="20320">
            <a:solidFill>
              <a:srgbClr val="66737D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8" name="Shape 6"/>
          <p:cNvSpPr/>
          <p:nvPr/>
        </p:nvSpPr>
        <p:spPr>
          <a:xfrm>
            <a:off x="7040880" y="2377440"/>
            <a:ext cx="1600200" cy="0"/>
          </a:xfrm>
          <a:prstGeom prst="line">
            <a:avLst/>
          </a:prstGeom>
          <a:noFill/>
          <a:ln w="20320">
            <a:solidFill>
              <a:srgbClr val="66737D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9" name="Shape 7"/>
          <p:cNvSpPr/>
          <p:nvPr/>
        </p:nvSpPr>
        <p:spPr>
          <a:xfrm>
            <a:off x="10012680" y="2377440"/>
            <a:ext cx="960120" cy="0"/>
          </a:xfrm>
          <a:prstGeom prst="line">
            <a:avLst/>
          </a:prstGeom>
          <a:noFill/>
          <a:ln w="20320">
            <a:solidFill>
              <a:srgbClr val="66737D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EEF2F4"/>
          </a:solidFill>
          <a:ln w="12700">
            <a:solidFill>
              <a:srgbClr val="66737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9"/>
          <p:cNvSpPr/>
          <p:nvPr/>
        </p:nvSpPr>
        <p:spPr>
          <a:xfrm>
            <a:off x="667512" y="20848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Finding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" y="2441448"/>
            <a:ext cx="11338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scanner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938528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8F1F7"/>
          </a:solidFill>
          <a:ln w="12700">
            <a:solidFill>
              <a:srgbClr val="6C8FA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Text 12"/>
          <p:cNvSpPr/>
          <p:nvPr/>
        </p:nvSpPr>
        <p:spPr>
          <a:xfrm>
            <a:off x="2770632" y="208483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Rule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70632" y="2441448"/>
            <a:ext cx="14081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93852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7EFD9"/>
          </a:solidFill>
          <a:ln w="12700">
            <a:solidFill>
              <a:srgbClr val="AF852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Text 15"/>
          <p:cNvSpPr/>
          <p:nvPr/>
        </p:nvSpPr>
        <p:spPr>
          <a:xfrm>
            <a:off x="5650992" y="208483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Contexto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50992" y="2441448"/>
            <a:ext cx="149961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app + harness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1938528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FE8F7"/>
          </a:solidFill>
          <a:ln w="12700">
            <a:solidFill>
              <a:srgbClr val="8066A3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0" name="Text 18"/>
          <p:cNvSpPr/>
          <p:nvPr/>
        </p:nvSpPr>
        <p:spPr>
          <a:xfrm>
            <a:off x="8577072" y="208483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Evidencia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77072" y="2441448"/>
            <a:ext cx="149961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control externo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89920" y="1783080"/>
            <a:ext cx="1051560" cy="1188720"/>
          </a:xfrm>
          <a:prstGeom prst="roundRect">
            <a:avLst>
              <a:gd name="adj" fmla="val 6957"/>
            </a:avLst>
          </a:prstGeom>
          <a:solidFill>
            <a:srgbClr val="E7F2ED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Text 21"/>
          <p:cNvSpPr/>
          <p:nvPr/>
        </p:nvSpPr>
        <p:spPr>
          <a:xfrm>
            <a:off x="10954512" y="1929384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4D"/>
                </a:solidFill>
              </a:rPr>
              <a:t>Acción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54512" y="2286000"/>
            <a:ext cx="7223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</a:rPr>
              <a:t>BLOCK / REVIEW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11111"/>
                </a:solidFill>
              </a:rPr>
              <a:t>WARN / PASS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68680" y="3657600"/>
            <a:ext cx="6766560" cy="411480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6" name="Text 24"/>
          <p:cNvSpPr/>
          <p:nvPr/>
        </p:nvSpPr>
        <p:spPr>
          <a:xfrm>
            <a:off x="941832" y="3730752"/>
            <a:ext cx="662025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Condición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35240" y="3657600"/>
            <a:ext cx="2743200" cy="411480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8" name="Text 26"/>
          <p:cNvSpPr/>
          <p:nvPr/>
        </p:nvSpPr>
        <p:spPr>
          <a:xfrm>
            <a:off x="7708392" y="3730752"/>
            <a:ext cx="259689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Acción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8680" y="4069080"/>
            <a:ext cx="6766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0" name="Text 28"/>
          <p:cNvSpPr/>
          <p:nvPr/>
        </p:nvSpPr>
        <p:spPr>
          <a:xfrm>
            <a:off x="941832" y="4133088"/>
            <a:ext cx="66202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Secret/API key/token real embebido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406908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2" name="Text 30"/>
          <p:cNvSpPr/>
          <p:nvPr/>
        </p:nvSpPr>
        <p:spPr>
          <a:xfrm>
            <a:off x="7708392" y="4133088"/>
            <a:ext cx="25968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96B6D"/>
                </a:solidFill>
              </a:rPr>
              <a:t>BLOCK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" y="4480560"/>
            <a:ext cx="6766560" cy="41148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4" name="Text 32"/>
          <p:cNvSpPr/>
          <p:nvPr/>
        </p:nvSpPr>
        <p:spPr>
          <a:xfrm>
            <a:off x="941832" y="4544568"/>
            <a:ext cx="66202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Untrusted input conectado a privileged 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35240" y="4480560"/>
            <a:ext cx="2743200" cy="41148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6" name="Text 34"/>
          <p:cNvSpPr/>
          <p:nvPr/>
        </p:nvSpPr>
        <p:spPr>
          <a:xfrm>
            <a:off x="7708392" y="4544568"/>
            <a:ext cx="25968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96B6D"/>
                </a:solidFill>
              </a:rPr>
              <a:t>BLOCK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8680" y="4892040"/>
            <a:ext cx="6766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8" name="Text 36"/>
          <p:cNvSpPr/>
          <p:nvPr/>
        </p:nvSpPr>
        <p:spPr>
          <a:xfrm>
            <a:off x="941832" y="4956048"/>
            <a:ext cx="66202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Falta de hierarchy / non-disclosure / delimiters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35240" y="489204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0" name="Text 38"/>
          <p:cNvSpPr/>
          <p:nvPr/>
        </p:nvSpPr>
        <p:spPr>
          <a:xfrm>
            <a:off x="7708392" y="4956048"/>
            <a:ext cx="25968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REVIEW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8680" y="5303520"/>
            <a:ext cx="6766560" cy="41148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2" name="Text 40"/>
          <p:cNvSpPr/>
          <p:nvPr/>
        </p:nvSpPr>
        <p:spPr>
          <a:xfrm>
            <a:off x="941832" y="5367528"/>
            <a:ext cx="66202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Palabra de capability en negación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35240" y="5303520"/>
            <a:ext cx="2743200" cy="41148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4" name="Text 42"/>
          <p:cNvSpPr/>
          <p:nvPr/>
        </p:nvSpPr>
        <p:spPr>
          <a:xfrm>
            <a:off x="7708392" y="5367528"/>
            <a:ext cx="25968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REVIEW, no BLOCK automático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68680" y="5715000"/>
            <a:ext cx="6766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6" name="Text 44"/>
          <p:cNvSpPr/>
          <p:nvPr/>
        </p:nvSpPr>
        <p:spPr>
          <a:xfrm>
            <a:off x="941832" y="5779008"/>
            <a:ext cx="662025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Refusal wording ausente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35240" y="5715000"/>
            <a:ext cx="2743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8" name="Text 46"/>
          <p:cNvSpPr/>
          <p:nvPr/>
        </p:nvSpPr>
        <p:spPr>
          <a:xfrm>
            <a:off x="7708392" y="5779008"/>
            <a:ext cx="2596896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WARN / INFO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Lección de la POC: calibrar antes de bloquear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El prompt endurecido mostró que una regla lexical puede confundir una prohibición con una capability concedida.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120640" cy="2423160"/>
          </a:xfrm>
          <a:prstGeom prst="roundRect">
            <a:avLst>
              <a:gd name="adj" fmla="val 3019"/>
            </a:avLst>
          </a:prstGeom>
          <a:solidFill>
            <a:srgbClr val="E7F2ED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/>
          <p:nvPr/>
        </p:nvSpPr>
        <p:spPr>
          <a:xfrm>
            <a:off x="896112" y="1563624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D8F75"/>
                </a:solidFill>
              </a:rPr>
              <a:t>Prompt endurecido decía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4791456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“You must not execute shell commands, initiate payments, send emails...”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“Any action affecting customer data or external systems requires explicit user confirmation and must be enforced outside the model.”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4663440" cy="2423160"/>
          </a:xfrm>
          <a:prstGeom prst="roundRect">
            <a:avLst>
              <a:gd name="adj" fmla="val 3019"/>
            </a:avLst>
          </a:prstGeom>
          <a:solidFill>
            <a:srgbClr val="F4E6E7"/>
          </a:solidFill>
          <a:ln w="12700">
            <a:solidFill>
              <a:srgbClr val="A96B6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/>
          <p:nvPr/>
        </p:nvSpPr>
        <p:spPr>
          <a:xfrm>
            <a:off x="6565392" y="156362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6B6D"/>
                </a:solidFill>
              </a:rPr>
              <a:t>Scanner reportó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1920240"/>
            <a:ext cx="4334256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PI-TOOLS = Critical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PI-NO-CONFIRM-GATE = Critical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Señal útil, pero no decisión final de deploy.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434840"/>
            <a:ext cx="9966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0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1325880" y="46268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37D"/>
                </a:solidFill>
              </a:rPr>
              <a:t>Principio 1.04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45537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3A4D"/>
                </a:solidFill>
              </a:rPr>
              <a:t>No exigir en el prompt controles enforced de forma determinística fuera del modelo.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496519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Agent Harness/runtime es la fuente de verdad para autorización, approvals, sandbox y tool control.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falta para productivizar la baseline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El riesgo actual no es falta de tools; es gobierno del gate, corpus y operación.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691640" y="2194560"/>
            <a:ext cx="914400" cy="0"/>
          </a:xfrm>
          <a:prstGeom prst="line">
            <a:avLst/>
          </a:prstGeom>
          <a:noFill/>
          <a:ln w="20320">
            <a:solidFill>
              <a:srgbClr val="9BACB5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6"/>
          <p:cNvSpPr/>
          <p:nvPr/>
        </p:nvSpPr>
        <p:spPr>
          <a:xfrm>
            <a:off x="731520" y="20208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3A4D"/>
                </a:solidFill>
              </a:rPr>
              <a:t>Hardening reproducible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228600" y="31729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37D"/>
                </a:solidFill>
              </a:rPr>
              <a:t>pinning, lockfiles, SBOM, contenedor controlado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77640" y="2194560"/>
            <a:ext cx="914400" cy="0"/>
          </a:xfrm>
          <a:prstGeom prst="line">
            <a:avLst/>
          </a:prstGeom>
          <a:noFill/>
          <a:ln w="20320">
            <a:solidFill>
              <a:srgbClr val="9BACB5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12" name="Shape 10"/>
          <p:cNvSpPr/>
          <p:nvPr/>
        </p:nvSpPr>
        <p:spPr>
          <a:xfrm>
            <a:off x="3017520" y="1828800"/>
            <a:ext cx="731520" cy="7315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3017520" y="20208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3A4D"/>
                </a:solidFill>
              </a:rPr>
              <a:t>Calidad del gate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2514600" y="31729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37D"/>
                </a:solidFill>
              </a:rPr>
              <a:t>corpus versionado, expected results, falsos positivos/negativos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2194560"/>
            <a:ext cx="914400" cy="0"/>
          </a:xfrm>
          <a:prstGeom prst="line">
            <a:avLst/>
          </a:prstGeom>
          <a:noFill/>
          <a:ln w="20320">
            <a:solidFill>
              <a:srgbClr val="9BACB5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17" name="Shape 15"/>
          <p:cNvSpPr/>
          <p:nvPr/>
        </p:nvSpPr>
        <p:spPr>
          <a:xfrm>
            <a:off x="5303520" y="1828800"/>
            <a:ext cx="731520" cy="7315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6"/>
          <p:cNvSpPr/>
          <p:nvPr/>
        </p:nvSpPr>
        <p:spPr>
          <a:xfrm>
            <a:off x="5303520" y="20208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3A4D"/>
                </a:solidFill>
              </a:rPr>
              <a:t>Decisión central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4800600" y="31729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37D"/>
                </a:solidFill>
              </a:rPr>
              <a:t>schema común, deduplicación, rule_id + contexto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49640" y="2194560"/>
            <a:ext cx="914400" cy="0"/>
          </a:xfrm>
          <a:prstGeom prst="line">
            <a:avLst/>
          </a:prstGeom>
          <a:noFill/>
          <a:ln w="20320">
            <a:solidFill>
              <a:srgbClr val="9BACB5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22" name="Shape 20"/>
          <p:cNvSpPr/>
          <p:nvPr/>
        </p:nvSpPr>
        <p:spPr>
          <a:xfrm>
            <a:off x="7589520" y="1828800"/>
            <a:ext cx="731520" cy="7315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Text 21"/>
          <p:cNvSpPr/>
          <p:nvPr/>
        </p:nvSpPr>
        <p:spPr>
          <a:xfrm>
            <a:off x="7589520" y="20208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3A4D"/>
                </a:solidFill>
              </a:rPr>
              <a:t>Integración cliente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7086600" y="31729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37D"/>
                </a:solidFill>
              </a:rPr>
              <a:t>CI/CD, runtime autorizado, SonarQube SARIF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75520" y="1828800"/>
            <a:ext cx="731520" cy="7315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7" name="Text 25"/>
          <p:cNvSpPr/>
          <p:nvPr/>
        </p:nvSpPr>
        <p:spPr>
          <a:xfrm>
            <a:off x="9875520" y="20208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5548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F3A4D"/>
                </a:solidFill>
              </a:rPr>
              <a:t>Operación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9372600" y="31729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37D"/>
                </a:solidFill>
              </a:rPr>
              <a:t>failure handling, waivers, ownership, expiraciones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0120" y="461772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F7EFD9"/>
          </a:solidFill>
          <a:ln w="12700">
            <a:solidFill>
              <a:srgbClr val="AF852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1" name="Text 29"/>
          <p:cNvSpPr/>
          <p:nvPr/>
        </p:nvSpPr>
        <p:spPr>
          <a:xfrm>
            <a:off x="1124712" y="4764024"/>
            <a:ext cx="9912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F852C"/>
                </a:solidFill>
              </a:rPr>
              <a:t>Criterio de avance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24712" y="5120640"/>
            <a:ext cx="991209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La baseline puede pasar a implementación controlada cuando el corpus, el policy gate, la evidencia SARIF, el failure handling y el proceso de excepciones estén validados. El reviewer LLM queda fuera del Definition of Done de esta fase.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Exploitability real: fuera del control estático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1.01 identifica debilidades potenciales; no prueba ataques exitosos contra el modelo o la app ejecutándose.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2971800"/>
            <a:ext cx="1691640" cy="0"/>
          </a:xfrm>
          <a:prstGeom prst="line">
            <a:avLst/>
          </a:prstGeom>
          <a:noFill/>
          <a:ln w="20320">
            <a:solidFill>
              <a:srgbClr val="66737D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7" name="Shape 5"/>
          <p:cNvSpPr/>
          <p:nvPr/>
        </p:nvSpPr>
        <p:spPr>
          <a:xfrm>
            <a:off x="5120640" y="2971800"/>
            <a:ext cx="1691640" cy="0"/>
          </a:xfrm>
          <a:prstGeom prst="line">
            <a:avLst/>
          </a:prstGeom>
          <a:noFill/>
          <a:ln w="20320">
            <a:solidFill>
              <a:srgbClr val="66737D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8" name="Shape 6"/>
          <p:cNvSpPr/>
          <p:nvPr/>
        </p:nvSpPr>
        <p:spPr>
          <a:xfrm>
            <a:off x="8092440" y="2971800"/>
            <a:ext cx="1691640" cy="0"/>
          </a:xfrm>
          <a:prstGeom prst="line">
            <a:avLst/>
          </a:prstGeom>
          <a:noFill/>
          <a:ln w="20320">
            <a:solidFill>
              <a:srgbClr val="66737D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8F1F7"/>
          </a:solidFill>
          <a:ln w="12700">
            <a:solidFill>
              <a:srgbClr val="6C8FA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/>
          <p:nvPr/>
        </p:nvSpPr>
        <p:spPr>
          <a:xfrm>
            <a:off x="804672" y="247802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8FA5"/>
                </a:solidFill>
              </a:rPr>
              <a:t>Static scan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834640"/>
            <a:ext cx="15910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“El prompt parece permitir X”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74720" y="23317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FE8F7"/>
          </a:solidFill>
          <a:ln w="12700">
            <a:solidFill>
              <a:srgbClr val="8066A3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3639312" y="24780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66A3"/>
                </a:solidFill>
              </a:rPr>
              <a:t>Dynamic eval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2834640"/>
            <a:ext cx="1682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“Intento explotar X”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33172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7EFD9"/>
          </a:solidFill>
          <a:ln w="12700">
            <a:solidFill>
              <a:srgbClr val="AF852C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6" name="Text 14"/>
          <p:cNvSpPr/>
          <p:nvPr/>
        </p:nvSpPr>
        <p:spPr>
          <a:xfrm>
            <a:off x="6611112" y="247802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F852C"/>
                </a:solidFill>
              </a:rPr>
              <a:t>App runtime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11112" y="2834640"/>
            <a:ext cx="19568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LLM + Agent Harness + tools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64040" y="2331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7F2ED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7"/>
          <p:cNvSpPr/>
          <p:nvPr/>
        </p:nvSpPr>
        <p:spPr>
          <a:xfrm>
            <a:off x="9628632" y="247802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8F75"/>
                </a:solidFill>
              </a:rPr>
              <a:t>Resultado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28632" y="2834640"/>
            <a:ext cx="15910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success / failure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46634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6D0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2" name="Text 20"/>
          <p:cNvSpPr/>
          <p:nvPr/>
        </p:nvSpPr>
        <p:spPr>
          <a:xfrm>
            <a:off x="1078992" y="4809744"/>
            <a:ext cx="9820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4D"/>
                </a:solidFill>
              </a:rPr>
              <a:t>Implicación para el deck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5166360"/>
            <a:ext cx="98206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PromptSonar + pi_scan.py generan evidencia pre-deploy. La validación de ataques reales debe implementarse como una capa posterior de evals/adversarial testing/red-team, idealmente contra la aplicación completa.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2 — extensión semántica condicional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El LLM no reemplaza la baseline: sólo ataca gaps semánticos específicos.</a:t>
            </a:r>
            <a:endParaRPr lang="en-US" sz="1250" dirty="0"/>
          </a:p>
        </p:txBody>
      </p:sp>
      <p:pic>
        <p:nvPicPr>
          <p:cNvPr id="6" name="Image 0" descr="/mnt/data/docx_media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16" y="1234440"/>
            <a:ext cx="4369447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2606040" cy="502920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5"/>
          <p:cNvSpPr/>
          <p:nvPr/>
        </p:nvSpPr>
        <p:spPr>
          <a:xfrm>
            <a:off x="6336792" y="1581912"/>
            <a:ext cx="2459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Dónde aporta el LLM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869680" y="1508760"/>
            <a:ext cx="2606040" cy="502920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7"/>
          <p:cNvSpPr/>
          <p:nvPr/>
        </p:nvSpPr>
        <p:spPr>
          <a:xfrm>
            <a:off x="8942832" y="1581912"/>
            <a:ext cx="2459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Dónde aporta poco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01168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9"/>
          <p:cNvSpPr/>
          <p:nvPr/>
        </p:nvSpPr>
        <p:spPr>
          <a:xfrm>
            <a:off x="6336792" y="207568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Disclosure implícito / contextual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869680" y="201168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4" name="Text 11"/>
          <p:cNvSpPr/>
          <p:nvPr/>
        </p:nvSpPr>
        <p:spPr>
          <a:xfrm>
            <a:off x="8942832" y="207568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Secrets / API keys / tokens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263640" y="2514600"/>
            <a:ext cx="2606040" cy="50292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6" name="Text 13"/>
          <p:cNvSpPr/>
          <p:nvPr/>
        </p:nvSpPr>
        <p:spPr>
          <a:xfrm>
            <a:off x="6336792" y="257860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Permisos vagos / wildcard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869680" y="2514600"/>
            <a:ext cx="2606040" cy="50292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5"/>
          <p:cNvSpPr/>
          <p:nvPr/>
        </p:nvSpPr>
        <p:spPr>
          <a:xfrm>
            <a:off x="8942832" y="257860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Unicode, Base64, homoglyphs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263640" y="301752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0" name="Text 17"/>
          <p:cNvSpPr/>
          <p:nvPr/>
        </p:nvSpPr>
        <p:spPr>
          <a:xfrm>
            <a:off x="6336792" y="308152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Agencia excesiva implícita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869680" y="3017520"/>
            <a:ext cx="2606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2" name="Text 19"/>
          <p:cNvSpPr/>
          <p:nvPr/>
        </p:nvSpPr>
        <p:spPr>
          <a:xfrm>
            <a:off x="8942832" y="308152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Injection explícita conocida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6263640" y="3520440"/>
            <a:ext cx="2606040" cy="50292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1"/>
          <p:cNvSpPr/>
          <p:nvPr/>
        </p:nvSpPr>
        <p:spPr>
          <a:xfrm>
            <a:off x="6336792" y="358444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Contradicciones entre instrucciones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8869680" y="3520440"/>
            <a:ext cx="2606040" cy="502920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6" name="Text 23"/>
          <p:cNvSpPr/>
          <p:nvPr/>
        </p:nvSpPr>
        <p:spPr>
          <a:xfrm>
            <a:off x="8942832" y="3584448"/>
            <a:ext cx="2459736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Findings determinísticos objetivos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446520" y="425196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EFE8F7"/>
          </a:solidFill>
          <a:ln w="12700">
            <a:solidFill>
              <a:srgbClr val="8066A3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8" name="Text 25"/>
          <p:cNvSpPr/>
          <p:nvPr/>
        </p:nvSpPr>
        <p:spPr>
          <a:xfrm>
            <a:off x="6611112" y="4398264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66A3"/>
                </a:solidFill>
              </a:rPr>
              <a:t>Guardrail operativo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611112" y="4754880"/>
            <a:ext cx="437997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111"/>
                </a:solidFill>
              </a:rPr>
              <a:t>Durante la fase inicial, Critical/High generados sólo por LLM deben ir a REVIEW obligatorio, no a BLOCK automático.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Comparación: cobertura vs. complejidad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La mayor parte de la superficie de control sigue cubierta por la Propuesta 1.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103120" cy="475488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/>
          <p:nvPr/>
        </p:nvSpPr>
        <p:spPr>
          <a:xfrm>
            <a:off x="758952" y="1490472"/>
            <a:ext cx="195681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Dimensión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88920" y="1417320"/>
            <a:ext cx="4114800" cy="475488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7"/>
          <p:cNvSpPr/>
          <p:nvPr/>
        </p:nvSpPr>
        <p:spPr>
          <a:xfrm>
            <a:off x="2862072" y="1490472"/>
            <a:ext cx="3968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Propuesta 1 — sin LLM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03720" y="1417320"/>
            <a:ext cx="4114800" cy="475488"/>
          </a:xfrm>
          <a:prstGeom prst="rect">
            <a:avLst/>
          </a:prstGeom>
          <a:solidFill>
            <a:srgbClr val="1F3A4D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9"/>
          <p:cNvSpPr/>
          <p:nvPr/>
        </p:nvSpPr>
        <p:spPr>
          <a:xfrm>
            <a:off x="6976872" y="1490472"/>
            <a:ext cx="396849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Propuesta 2 — LLM local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1892808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3" name="Text 11"/>
          <p:cNvSpPr/>
          <p:nvPr/>
        </p:nvSpPr>
        <p:spPr>
          <a:xfrm>
            <a:off x="758952" y="1956816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Servicios persistentes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892808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3"/>
          <p:cNvSpPr/>
          <p:nvPr/>
        </p:nvSpPr>
        <p:spPr>
          <a:xfrm>
            <a:off x="2862072" y="1956816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D8F75"/>
                </a:solidFill>
              </a:rPr>
              <a:t>Ninguno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892808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Text 15"/>
          <p:cNvSpPr/>
          <p:nvPr/>
        </p:nvSpPr>
        <p:spPr>
          <a:xfrm>
            <a:off x="6976872" y="1956816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Ollama / host interno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368296"/>
            <a:ext cx="210312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9" name="Text 17"/>
          <p:cNvSpPr/>
          <p:nvPr/>
        </p:nvSpPr>
        <p:spPr>
          <a:xfrm>
            <a:off x="758952" y="2432304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GPU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2368296"/>
            <a:ext cx="411480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1" name="Text 19"/>
          <p:cNvSpPr/>
          <p:nvPr/>
        </p:nvSpPr>
        <p:spPr>
          <a:xfrm>
            <a:off x="2862072" y="2432304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D8F75"/>
                </a:solidFill>
              </a:rPr>
              <a:t>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368296"/>
            <a:ext cx="411480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Text 21"/>
          <p:cNvSpPr/>
          <p:nvPr/>
        </p:nvSpPr>
        <p:spPr>
          <a:xfrm>
            <a:off x="6976872" y="2432304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Opcional / recomendada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843784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5" name="Text 23"/>
          <p:cNvSpPr/>
          <p:nvPr/>
        </p:nvSpPr>
        <p:spPr>
          <a:xfrm>
            <a:off x="758952" y="2907792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Troubleshooting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2843784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7" name="Text 25"/>
          <p:cNvSpPr/>
          <p:nvPr/>
        </p:nvSpPr>
        <p:spPr>
          <a:xfrm>
            <a:off x="2862072" y="2907792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D8F75"/>
                </a:solidFill>
              </a:rPr>
              <a:t>Bajo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2843784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9" name="Text 27"/>
          <p:cNvSpPr/>
          <p:nvPr/>
        </p:nvSpPr>
        <p:spPr>
          <a:xfrm>
            <a:off x="6976872" y="2907792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Medio: scanner + modelo + runtime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3319272"/>
            <a:ext cx="210312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1" name="Text 29"/>
          <p:cNvSpPr/>
          <p:nvPr/>
        </p:nvSpPr>
        <p:spPr>
          <a:xfrm>
            <a:off x="758952" y="3383280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Lifecycle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3319272"/>
            <a:ext cx="411480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3" name="Text 31"/>
          <p:cNvSpPr/>
          <p:nvPr/>
        </p:nvSpPr>
        <p:spPr>
          <a:xfrm>
            <a:off x="2862072" y="3383280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Reglas/scanners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3319272"/>
            <a:ext cx="411480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5" name="Text 33"/>
          <p:cNvSpPr/>
          <p:nvPr/>
        </p:nvSpPr>
        <p:spPr>
          <a:xfrm>
            <a:off x="6976872" y="3383280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Reglas + modelo + benchmark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3794760"/>
            <a:ext cx="2103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7" name="Text 35"/>
          <p:cNvSpPr/>
          <p:nvPr/>
        </p:nvSpPr>
        <p:spPr>
          <a:xfrm>
            <a:off x="758952" y="3858768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Escalabilidad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379476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9" name="Text 37"/>
          <p:cNvSpPr/>
          <p:nvPr/>
        </p:nvSpPr>
        <p:spPr>
          <a:xfrm>
            <a:off x="2862072" y="3858768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D8F75"/>
                </a:solidFill>
              </a:rPr>
              <a:t>Natural en runners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379476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1" name="Text 39"/>
          <p:cNvSpPr/>
          <p:nvPr/>
        </p:nvSpPr>
        <p:spPr>
          <a:xfrm>
            <a:off x="6976872" y="3858768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Depende del host de inferencia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" y="4270248"/>
            <a:ext cx="210312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3" name="Text 41"/>
          <p:cNvSpPr/>
          <p:nvPr/>
        </p:nvSpPr>
        <p:spPr>
          <a:xfrm>
            <a:off x="758952" y="4334256"/>
            <a:ext cx="195681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Diferencial de cobertura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88920" y="4270248"/>
            <a:ext cx="411480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5" name="Text 43"/>
          <p:cNvSpPr/>
          <p:nvPr/>
        </p:nvSpPr>
        <p:spPr>
          <a:xfrm>
            <a:off x="2862072" y="4334256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Alta en patrones conocidos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03720" y="4270248"/>
            <a:ext cx="4114800" cy="475488"/>
          </a:xfrm>
          <a:prstGeom prst="rect">
            <a:avLst/>
          </a:prstGeom>
          <a:solidFill>
            <a:srgbClr val="F5F7F8"/>
          </a:solidFill>
          <a:ln w="6350">
            <a:solidFill>
              <a:srgbClr val="B5C2CB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7" name="Text 45"/>
          <p:cNvSpPr/>
          <p:nvPr/>
        </p:nvSpPr>
        <p:spPr>
          <a:xfrm>
            <a:off x="6976872" y="4334256"/>
            <a:ext cx="396849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Alta en semántica contextual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4400" y="5029200"/>
            <a:ext cx="10149840" cy="713232"/>
          </a:xfrm>
          <a:prstGeom prst="roundRect">
            <a:avLst/>
          </a:prstGeom>
          <a:solidFill>
            <a:srgbClr val="E7F2ED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9" name="Text 47"/>
          <p:cNvSpPr/>
          <p:nvPr/>
        </p:nvSpPr>
        <p:spPr>
          <a:xfrm>
            <a:off x="1143000" y="5230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8F75"/>
                </a:solidFill>
              </a:rPr>
              <a:t>Recomendación 1.04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971800" y="5184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A4D"/>
                </a:solidFill>
              </a:rPr>
              <a:t>productivizar P1 como core obligatorio y dejar P2 como plug-in reversible sujeto a métricas.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5D8F75"/>
          </a:solidFill>
          <a:ln w="12700">
            <a:solidFill>
              <a:srgbClr val="5D8F7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recomendado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37D"/>
                </a:solidFill>
              </a:rPr>
              <a:t>Consolidar primero la baseline determinística; luego decidir si la semántica agrega valor medible.</a:t>
            </a:r>
            <a:endParaRPr lang="en-US" sz="1250" dirty="0"/>
          </a:p>
        </p:txBody>
      </p:sp>
      <p:pic>
        <p:nvPicPr>
          <p:cNvPr id="6" name="Image 0" descr="/mnt/data/docx_media/word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24" y="1234440"/>
            <a:ext cx="4260072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23444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6C8FA5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8" name="Text 5"/>
          <p:cNvSpPr/>
          <p:nvPr/>
        </p:nvSpPr>
        <p:spPr>
          <a:xfrm>
            <a:off x="5971032" y="1380744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4D"/>
                </a:solidFill>
              </a:rPr>
              <a:t>Prioridad inmediata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71032" y="1737360"/>
            <a:ext cx="4928616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1. Corpus de regresión con casos positivos, negativos, negaciones y multilingüe.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2. Normalizer + policy gate independiente de exit codes nativos.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3. Pipeline CI/CD reusable con evidencia SARIF.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4. Excepciones gobernadas y expirables.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11111"/>
                </a:solidFill>
              </a:rPr>
              <a:t>5. Evidencia de controles del Agent Harness/runtime.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5806440" y="46177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FE8F7"/>
          </a:solidFill>
          <a:ln w="12700">
            <a:solidFill>
              <a:srgbClr val="8066A3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Text 8"/>
          <p:cNvSpPr/>
          <p:nvPr/>
        </p:nvSpPr>
        <p:spPr>
          <a:xfrm>
            <a:off x="5971032" y="4764024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066A3"/>
                </a:solidFill>
              </a:rPr>
              <a:t>Criterio para incorporar LLM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71032" y="5120640"/>
            <a:ext cx="49286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111"/>
                </a:solidFill>
              </a:rPr>
              <a:t>Sólo avanzar si el corpus demuestra cobertura incremental clara en disclosure contextual, autorización vaga, contradicciones o agencia excesiva, sin degradar estabilidad, latencia u operación.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1.01 · Revisión de system prompts · v1.04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260df36-bc43-424c-8f44-c85226657b01}" enabled="0" method="" siteId="{f260df36-bc43-424c-8f44-c85226657b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1397</Words>
  <Application>Microsoft Macintosh PowerPoint</Application>
  <PresentationFormat>Widescreen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1.01 - Revision de seguridad de System Prompts</dc:title>
  <dc:subject>GenAI Pipelines - Control 1.01</dc:subject>
  <dc:creator>OpenAI</dc:creator>
  <cp:lastModifiedBy>Sebastian Gonzalez</cp:lastModifiedBy>
  <cp:revision>1</cp:revision>
  <dcterms:created xsi:type="dcterms:W3CDTF">2026-09-25T16:01:13Z</dcterms:created>
  <dcterms:modified xsi:type="dcterms:W3CDTF">2026-09-25T16:13:39Z</dcterms:modified>
</cp:coreProperties>
</file>