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200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Gonzalez" userId="cd35f73b-a233-4147-a8fc-94b604608bd0" providerId="ADAL" clId="{DD4EB018-CC74-5248-B280-6CF7564900CB}"/>
    <pc:docChg chg="delSld">
      <pc:chgData name="Sebastian Gonzalez" userId="cd35f73b-a233-4147-a8fc-94b604608bd0" providerId="ADAL" clId="{DD4EB018-CC74-5248-B280-6CF7564900CB}" dt="2026-09-25T15:15:35.726" v="0" actId="2696"/>
      <pc:docMkLst>
        <pc:docMk/>
      </pc:docMkLst>
      <pc:sldChg chg="del">
        <pc:chgData name="Sebastian Gonzalez" userId="cd35f73b-a233-4147-a8fc-94b604608bd0" providerId="ADAL" clId="{DD4EB018-CC74-5248-B280-6CF7564900CB}" dt="2026-09-25T15:15:35.726" v="0" actId="2696"/>
        <pc:sldMkLst>
          <pc:docMk/>
          <pc:sldMk cId="0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8235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433"/>
          </a:solidFill>
          <a:ln w="12700">
            <a:solidFill>
              <a:srgbClr val="0B2433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Shape 1"/>
          <p:cNvSpPr/>
          <p:nvPr/>
        </p:nvSpPr>
        <p:spPr>
          <a:xfrm>
            <a:off x="9281160" y="7315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2E7D78">
              <a:alpha val="85000"/>
            </a:srgbClr>
          </a:solidFill>
          <a:ln w="12700">
            <a:solidFill>
              <a:srgbClr val="2E7D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" name="Shape 2"/>
          <p:cNvSpPr/>
          <p:nvPr/>
        </p:nvSpPr>
        <p:spPr>
          <a:xfrm>
            <a:off x="9646920" y="178308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1C75B">
              <a:alpha val="82000"/>
            </a:srgbClr>
          </a:solidFill>
          <a:ln w="12700">
            <a:solidFill>
              <a:srgbClr val="F1C7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5" name="Text 3"/>
          <p:cNvSpPr/>
          <p:nvPr/>
        </p:nvSpPr>
        <p:spPr>
          <a:xfrm>
            <a:off x="658368" y="1207008"/>
            <a:ext cx="786384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Propuestas de arquitectura para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revision de seguridad de System Prompts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94944" y="303580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DECF0"/>
                </a:solidFill>
              </a:rPr>
              <a:t>Control 1.01 - Revision de prompt templates del sistema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94944" y="3977640"/>
            <a:ext cx="3657600" cy="493776"/>
          </a:xfrm>
          <a:prstGeom prst="roundRect">
            <a:avLst>
              <a:gd name="adj" fmla="val 14815"/>
            </a:avLst>
          </a:prstGeom>
          <a:solidFill>
            <a:srgbClr val="2E7D78"/>
          </a:solidFill>
          <a:ln w="12700">
            <a:solidFill>
              <a:srgbClr val="2E7D7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8" name="Text 6"/>
          <p:cNvSpPr/>
          <p:nvPr/>
        </p:nvSpPr>
        <p:spPr>
          <a:xfrm>
            <a:off x="877824" y="410565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CI/CD + prompts/**/*.txt + SonarQube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94944" y="619963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6D0"/>
                </a:solidFill>
              </a:rPr>
              <a:t>Version documental 1.03 | 24 de septiembre de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7D78"/>
          </a:solidFill>
          <a:ln w="12700">
            <a:solidFill>
              <a:srgbClr val="2E7D7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Alcance del Control 1.01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372600" y="3017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Scope y principios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12064" y="645566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Control 1.01 - Revision de seguridad de system prompts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841248"/>
            <a:ext cx="6583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B2433"/>
                </a:solidFill>
              </a:rPr>
              <a:t>Revision de seguridad de system prompts y prompt templates antes del primer deploy y ante cada modificacion.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77240" y="169164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DDF0E8"/>
          </a:solidFill>
          <a:ln w="12700">
            <a:solidFill>
              <a:srgbClr val="DDF0E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9" name="Text 7"/>
          <p:cNvSpPr/>
          <p:nvPr/>
        </p:nvSpPr>
        <p:spPr>
          <a:xfrm>
            <a:off x="978408" y="192024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78"/>
                </a:solidFill>
              </a:rPr>
              <a:t>Prompt injection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395728"/>
            <a:ext cx="2286000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02A43"/>
                </a:solidFill>
              </a:rPr>
              <a:t>Jerarquia ausente, datos no confiables convertidos en instrucciones, bypass o jailbreak.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160520" y="169164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2" name="Text 10"/>
          <p:cNvSpPr/>
          <p:nvPr/>
        </p:nvSpPr>
        <p:spPr>
          <a:xfrm>
            <a:off x="4361688" y="192024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6B00"/>
                </a:solidFill>
              </a:rPr>
              <a:t>Divulgacion de informacion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0" y="2395728"/>
            <a:ext cx="2286000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02A43"/>
                </a:solidFill>
              </a:rPr>
              <a:t>Extraccion del system prompt, secretos embebidos o exposicion de configuracion interna.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543800" y="169164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5D7D7"/>
          </a:solidFill>
          <a:ln w="12700">
            <a:solidFill>
              <a:srgbClr val="F5D7D7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5" name="Text 13"/>
          <p:cNvSpPr/>
          <p:nvPr/>
        </p:nvSpPr>
        <p:spPr>
          <a:xfrm>
            <a:off x="7744968" y="192024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F2D2D"/>
                </a:solidFill>
              </a:rPr>
              <a:t>Comportamiento no autorizado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0" y="2395728"/>
            <a:ext cx="2286000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02A43"/>
                </a:solidFill>
              </a:rPr>
              <a:t>Tools privilegiadas, permisos wildcard, agencia excesiva o acciones sin confirmacion.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13232" y="42793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433"/>
                </a:solidFill>
              </a:rPr>
              <a:t>Principio de diseno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" y="4690872"/>
            <a:ext cx="101498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02A43"/>
                </a:solidFill>
              </a:rPr>
              <a:t>• El system prompt no debe considerarse un secreto ni un mecanismo de autorizacion.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02A43"/>
                </a:solidFill>
              </a:rPr>
              <a:t>• Credenciales, detalles sensibles y logica de permisos no pertenecen al prompt.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02A43"/>
                </a:solidFill>
              </a:rPr>
              <a:t>• La decision de bloqueo debe vivir en CI, con SonarQube como evidencia e historial.</a:t>
            </a:r>
            <a:endParaRPr lang="en-US" sz="15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7D78"/>
          </a:solidFill>
          <a:ln w="12700">
            <a:solidFill>
              <a:srgbClr val="2E7D7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Propuesta 1: baseline sin LLM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372600" y="3017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Arquitectura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12064" y="645566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Control 1.01 - Revision de seguridad de system prompts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896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E7D78"/>
                </a:solidFill>
              </a:rPr>
              <a:t>OBJETIVO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658368" y="111556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2433"/>
                </a:solidFill>
              </a:rPr>
              <a:t>Control pre-deploy reproducible sobre prompts/**/*.txt, sin modelos generativos ni clasificadores ML.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58368" y="1874520"/>
            <a:ext cx="4343400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02A43"/>
                </a:solidFill>
              </a:rPr>
              <a:t>• PromptSonar: injection, obfuscation, secrets/PII, workflow escalation y SARIF.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02A43"/>
                </a:solidFill>
              </a:rPr>
              <a:t>• pi_scan.py: jerarquia, non-disclosure, untrusted content, confirm gates y hardening.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02A43"/>
                </a:solidFill>
              </a:rPr>
              <a:t>• Normalizer + policy gate: deduplica, mapea severidad y emite SARIF consolidado.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658368" y="4572000"/>
            <a:ext cx="4160520" cy="566928"/>
          </a:xfrm>
          <a:prstGeom prst="roundRect">
            <a:avLst>
              <a:gd name="adj" fmla="val 12903"/>
            </a:avLst>
          </a:prstGeom>
          <a:solidFill>
            <a:srgbClr val="E7F3EF"/>
          </a:solidFill>
          <a:ln w="12700">
            <a:solidFill>
              <a:srgbClr val="E7F3EF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1" name="Text 9"/>
          <p:cNvSpPr/>
          <p:nvPr/>
        </p:nvSpPr>
        <p:spPr>
          <a:xfrm>
            <a:off x="859536" y="475488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7D78"/>
                </a:solidFill>
              </a:rPr>
              <a:t>CPU only | sin LLM | sin egress durante el scan</a:t>
            </a:r>
            <a:endParaRPr lang="en-US" sz="1250" dirty="0"/>
          </a:p>
        </p:txBody>
      </p:sp>
      <p:pic>
        <p:nvPicPr>
          <p:cNvPr id="12" name="Image 0" descr="/mnt/data/docx_extract/word/media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895" y="932688"/>
            <a:ext cx="4285177" cy="4919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7D78"/>
          </a:solidFill>
          <a:ln w="12700">
            <a:solidFill>
              <a:srgbClr val="2E7D7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Baseline: politica de decision y evidencia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372600" y="3017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Sin LLM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12064" y="645566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Control 1.01 - Revision de seguridad de system prompts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868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433"/>
                </a:solidFill>
              </a:rPr>
              <a:t>Decision central del CI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13232" y="1344168"/>
            <a:ext cx="1874520" cy="685800"/>
          </a:xfrm>
          <a:prstGeom prst="roundRect">
            <a:avLst>
              <a:gd name="adj" fmla="val 10667"/>
            </a:avLst>
          </a:prstGeom>
          <a:solidFill>
            <a:srgbClr val="F5D7D7"/>
          </a:solidFill>
          <a:ln w="12700">
            <a:solidFill>
              <a:srgbClr val="F5D7D7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9" name="Text 7"/>
          <p:cNvSpPr/>
          <p:nvPr/>
        </p:nvSpPr>
        <p:spPr>
          <a:xfrm>
            <a:off x="877824" y="1581912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F2D2D"/>
                </a:solidFill>
              </a:rPr>
              <a:t>BLOCK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880360" y="1417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</a:rPr>
              <a:t>Falla el job y bloquea deploy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806440" y="139903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02A43"/>
                </a:solidFill>
              </a:rPr>
              <a:t>Critical/High: system prompt extractable, secreto hardcoded, tool privilegiada sin gate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713232" y="2514600"/>
            <a:ext cx="1874520" cy="685800"/>
          </a:xfrm>
          <a:prstGeom prst="roundRect">
            <a:avLst>
              <a:gd name="adj" fmla="val 10667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3" name="Text 11"/>
          <p:cNvSpPr/>
          <p:nvPr/>
        </p:nvSpPr>
        <p:spPr>
          <a:xfrm>
            <a:off x="877824" y="2752344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A6B00"/>
                </a:solidFill>
              </a:rPr>
              <a:t>REVIEW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880360" y="25877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</a:rPr>
              <a:t>Requiere revision humana documentada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806440" y="25694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02A43"/>
                </a:solidFill>
              </a:rPr>
              <a:t>Medium, findings contradictorios o reglas de autorizacion que requieren contexto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713232" y="3685032"/>
            <a:ext cx="1874520" cy="685800"/>
          </a:xfrm>
          <a:prstGeom prst="roundRect">
            <a:avLst>
              <a:gd name="adj" fmla="val 10667"/>
            </a:avLst>
          </a:prstGeom>
          <a:solidFill>
            <a:srgbClr val="DDF0E8"/>
          </a:solidFill>
          <a:ln w="12700">
            <a:solidFill>
              <a:srgbClr val="DDF0E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7" name="Text 15"/>
          <p:cNvSpPr/>
          <p:nvPr/>
        </p:nvSpPr>
        <p:spPr>
          <a:xfrm>
            <a:off x="877824" y="3922776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7D78"/>
                </a:solidFill>
              </a:rPr>
              <a:t>PASS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880360" y="37581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</a:rPr>
              <a:t>Continua el pipeline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806440" y="37398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02A43"/>
                </a:solidFill>
              </a:rPr>
              <a:t>Sin Critical/High y sin findings pendientes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713232" y="5074920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1" name="Text 19"/>
          <p:cNvSpPr/>
          <p:nvPr/>
        </p:nvSpPr>
        <p:spPr>
          <a:xfrm>
            <a:off x="905256" y="5266944"/>
            <a:ext cx="43525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102A43"/>
                </a:solidFill>
              </a:rPr>
              <a:t>Excepciones versionadas: rule ID + archivo + justificacion + aprobador + expiracion</a:t>
            </a:r>
            <a:endParaRPr lang="en-US" sz="1170" dirty="0"/>
          </a:p>
        </p:txBody>
      </p:sp>
      <p:sp>
        <p:nvSpPr>
          <p:cNvPr id="22" name="Shape 20"/>
          <p:cNvSpPr/>
          <p:nvPr/>
        </p:nvSpPr>
        <p:spPr>
          <a:xfrm>
            <a:off x="6035040" y="5074920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3" name="Text 21"/>
          <p:cNvSpPr/>
          <p:nvPr/>
        </p:nvSpPr>
        <p:spPr>
          <a:xfrm>
            <a:off x="6254496" y="5266944"/>
            <a:ext cx="43159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102A43"/>
                </a:solidFill>
              </a:rPr>
              <a:t>SonarQube = evidencia e historial; enforcement primario queda en CI</a:t>
            </a:r>
            <a:endParaRPr lang="en-US" sz="11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7D78"/>
          </a:solidFill>
          <a:ln w="12700">
            <a:solidFill>
              <a:srgbClr val="2E7D7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Baseline: cobertura y costo operativo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372600" y="3017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Sin LLM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12064" y="645566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Control 1.01 - Revision de seguridad de system prompts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8961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433"/>
                </a:solidFill>
              </a:rPr>
              <a:t>Cobertura especifica 1.01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3246120" cy="640080"/>
          </a:xfrm>
          <a:prstGeom prst="roundRect">
            <a:avLst>
              <a:gd name="adj" fmla="val 11429"/>
            </a:avLst>
          </a:prstGeom>
          <a:solidFill>
            <a:srgbClr val="DDF0E8"/>
          </a:solidFill>
          <a:ln w="12700">
            <a:solidFill>
              <a:srgbClr val="DDF0E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9" name="Text 7"/>
          <p:cNvSpPr/>
          <p:nvPr/>
        </p:nvSpPr>
        <p:spPr>
          <a:xfrm>
            <a:off x="914400" y="1618488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7D78"/>
                </a:solidFill>
              </a:rPr>
              <a:t>Prompt injection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251960" y="1527048"/>
            <a:ext cx="3749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02A43"/>
                </a:solidFill>
              </a:rPr>
              <a:t>Alta para patrones conocidos, obfuscation y debilidades explicitas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685800" y="2468880"/>
            <a:ext cx="3246120" cy="640080"/>
          </a:xfrm>
          <a:prstGeom prst="roundRect">
            <a:avLst>
              <a:gd name="adj" fmla="val 11429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2" name="Text 10"/>
          <p:cNvSpPr/>
          <p:nvPr/>
        </p:nvSpPr>
        <p:spPr>
          <a:xfrm>
            <a:off x="914400" y="2670048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9A6B00"/>
                </a:solidFill>
              </a:rPr>
              <a:t>Divulgacion del sistema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251960" y="2578608"/>
            <a:ext cx="3749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02A43"/>
                </a:solidFill>
              </a:rPr>
              <a:t>Media-Alta: buena deteccion de ausencia de controles explicitos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685800" y="3520440"/>
            <a:ext cx="3246120" cy="640080"/>
          </a:xfrm>
          <a:prstGeom prst="roundRect">
            <a:avLst>
              <a:gd name="adj" fmla="val 11429"/>
            </a:avLst>
          </a:prstGeom>
          <a:solidFill>
            <a:srgbClr val="DDF0E8"/>
          </a:solidFill>
          <a:ln w="12700">
            <a:solidFill>
              <a:srgbClr val="DDF0E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5" name="Text 13"/>
          <p:cNvSpPr/>
          <p:nvPr/>
        </p:nvSpPr>
        <p:spPr>
          <a:xfrm>
            <a:off x="914400" y="3721608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7D78"/>
                </a:solidFill>
              </a:rPr>
              <a:t>Comportamientos no autorizados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251960" y="3630168"/>
            <a:ext cx="3749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02A43"/>
                </a:solidFill>
              </a:rPr>
              <a:t>Alta cuando el riesgo esta explicito o inferible por reglas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685800" y="47365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433"/>
                </a:solidFill>
              </a:rPr>
              <a:t>Perfil operativo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" y="5193792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9" name="Text 17"/>
          <p:cNvSpPr/>
          <p:nvPr/>
        </p:nvSpPr>
        <p:spPr>
          <a:xfrm>
            <a:off x="914400" y="535838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2433"/>
                </a:solidFill>
              </a:rPr>
              <a:t>Infra muy baja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14400" y="569671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02A43"/>
                </a:solidFill>
              </a:rPr>
              <a:t>runner CI estandar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3246120" y="5193792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2" name="Text 20"/>
          <p:cNvSpPr/>
          <p:nvPr/>
        </p:nvSpPr>
        <p:spPr>
          <a:xfrm>
            <a:off x="3383280" y="535838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2433"/>
                </a:solidFill>
              </a:rPr>
              <a:t>Costo casi nulo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3383280" y="569671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02A43"/>
                </a:solidFill>
              </a:rPr>
              <a:t>sin inferencia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715000" y="5193792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5" name="Text 23"/>
          <p:cNvSpPr/>
          <p:nvPr/>
        </p:nvSpPr>
        <p:spPr>
          <a:xfrm>
            <a:off x="5852160" y="5358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2433"/>
                </a:solidFill>
              </a:rPr>
              <a:t>Determinismo alto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5852160" y="569671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02A43"/>
                </a:solidFill>
              </a:rPr>
              <a:t>misma config = mismo resultado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549640" y="1417320"/>
            <a:ext cx="2377440" cy="37947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8" name="Text 26"/>
          <p:cNvSpPr/>
          <p:nvPr/>
        </p:nvSpPr>
        <p:spPr>
          <a:xfrm>
            <a:off x="8851392" y="171907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433"/>
                </a:solidFill>
              </a:rPr>
              <a:t>Limitacion principal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15400" y="2240280"/>
            <a:ext cx="1645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02A43"/>
                </a:solidFill>
              </a:rPr>
              <a:t>El analisis estatico puede omitir instrucciones ambiguas o contextuales que no coincidan con reglas conocidas.</a:t>
            </a:r>
            <a:endParaRPr lang="en-US" sz="1330" dirty="0"/>
          </a:p>
        </p:txBody>
      </p:sp>
      <p:sp>
        <p:nvSpPr>
          <p:cNvPr id="30" name="Text 28"/>
          <p:cNvSpPr/>
          <p:nvPr/>
        </p:nvSpPr>
        <p:spPr>
          <a:xfrm>
            <a:off x="8842248" y="3977640"/>
            <a:ext cx="17830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78"/>
                </a:solidFill>
              </a:rPr>
              <a:t>Recomendacion: adoptar como baseline obligatoria aunque luego se agregue LLM local.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7D78"/>
          </a:solidFill>
          <a:ln w="12700">
            <a:solidFill>
              <a:srgbClr val="2E7D7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Propuesta 2: LLM local para revision semantica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372600" y="3017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Arquitectura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12064" y="645566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Control 1.01 - Revision de seguridad de system prompts</a:t>
            </a:r>
            <a:endParaRPr lang="en-US" sz="850" dirty="0"/>
          </a:p>
        </p:txBody>
      </p:sp>
      <p:pic>
        <p:nvPicPr>
          <p:cNvPr id="7" name="Image 0" descr="/mnt/data/docx_extract/word/media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75" y="932688"/>
            <a:ext cx="4912179" cy="4882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03720" y="96012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5D4E8B"/>
                </a:solidFill>
              </a:rPr>
              <a:t>OBJETIVO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6903720" y="117043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2433"/>
                </a:solidFill>
              </a:rPr>
              <a:t>Mantener el stack estatico y agregar analisis contextual local para detectar riesgos sin firma textual estable.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903720" y="1901952"/>
            <a:ext cx="429768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02A43"/>
                </a:solidFill>
              </a:rPr>
              <a:t>• Autoridad implicita y limites de accion vagos.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02A43"/>
                </a:solidFill>
              </a:rPr>
              <a:t>• Instrucciones contradictorias y disclosure indirecto.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02A43"/>
                </a:solidFill>
              </a:rPr>
              <a:t>• Agencia excesiva, permisos ambiguos y aprobaciones faltantes.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903720" y="3703320"/>
            <a:ext cx="4160520" cy="566928"/>
          </a:xfrm>
          <a:prstGeom prst="roundRect">
            <a:avLst>
              <a:gd name="adj" fmla="val 12903"/>
            </a:avLst>
          </a:prstGeom>
          <a:solidFill>
            <a:srgbClr val="E7E1F8"/>
          </a:solidFill>
          <a:ln w="12700">
            <a:solidFill>
              <a:srgbClr val="E7E1F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2" name="Text 9"/>
          <p:cNvSpPr/>
          <p:nvPr/>
        </p:nvSpPr>
        <p:spPr>
          <a:xfrm>
            <a:off x="7114032" y="3895344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5D4E8B"/>
                </a:solidFill>
              </a:rPr>
              <a:t>Ollama + Qwen3 14B + JSON Schema</a:t>
            </a:r>
            <a:endParaRPr lang="en-US" sz="1280" dirty="0"/>
          </a:p>
        </p:txBody>
      </p:sp>
      <p:sp>
        <p:nvSpPr>
          <p:cNvPr id="13" name="Shape 10"/>
          <p:cNvSpPr/>
          <p:nvPr/>
        </p:nvSpPr>
        <p:spPr>
          <a:xfrm>
            <a:off x="6903720" y="4617720"/>
            <a:ext cx="4160520" cy="566928"/>
          </a:xfrm>
          <a:prstGeom prst="roundRect">
            <a:avLst>
              <a:gd name="adj" fmla="val 12903"/>
            </a:avLst>
          </a:prstGeom>
          <a:solidFill>
            <a:srgbClr val="E7F3EF"/>
          </a:solidFill>
          <a:ln w="12700">
            <a:solidFill>
              <a:srgbClr val="E7F3EF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4" name="Text 11"/>
          <p:cNvSpPr/>
          <p:nvPr/>
        </p:nvSpPr>
        <p:spPr>
          <a:xfrm>
            <a:off x="7114032" y="4809744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2E7D78"/>
                </a:solidFill>
              </a:rPr>
              <a:t>Prompts dentro de la red corporativa</a:t>
            </a:r>
            <a:endParaRPr lang="en-US" sz="12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7D78"/>
          </a:solidFill>
          <a:ln w="12700">
            <a:solidFill>
              <a:srgbClr val="2E7D7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Reviewer semantico: diseno seguro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372600" y="3017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LLM local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12064" y="645566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Control 1.01 - Revision de seguridad de system prompts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87782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2433"/>
                </a:solidFill>
              </a:rPr>
              <a:t>El LLM se usa como reviewer acotado, no como agente. Su salida alimenta el mismo gate y reporte.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1627632"/>
            <a:ext cx="2971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9" name="Text 7"/>
          <p:cNvSpPr/>
          <p:nvPr/>
        </p:nvSpPr>
        <p:spPr>
          <a:xfrm>
            <a:off x="886968" y="1828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433"/>
                </a:solidFill>
              </a:rPr>
              <a:t>Sin herramientas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1832" y="2194560"/>
            <a:ext cx="2423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02A43"/>
                </a:solidFill>
              </a:rPr>
              <a:t>No shell, filesystem, MCP, red, secretos ni credenciales. Solo JSON.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4297680" y="1627632"/>
            <a:ext cx="2971800" cy="1325880"/>
          </a:xfrm>
          <a:prstGeom prst="roundRect">
            <a:avLst>
              <a:gd name="adj" fmla="val 5517"/>
            </a:avLst>
          </a:prstGeom>
          <a:solidFill>
            <a:srgbClr val="E7E1F8"/>
          </a:solidFill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2" name="Text 10"/>
          <p:cNvSpPr/>
          <p:nvPr/>
        </p:nvSpPr>
        <p:spPr>
          <a:xfrm>
            <a:off x="4498848" y="1828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D4E8B"/>
                </a:solidFill>
              </a:rPr>
              <a:t>Prompt auditado como dato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53712" y="2194560"/>
            <a:ext cx="2423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02A43"/>
                </a:solidFill>
              </a:rPr>
              <a:t>El contenido evaluado queda delimitado y tratado como un objeto no confiable.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7909560" y="1627632"/>
            <a:ext cx="2971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5" name="Text 13"/>
          <p:cNvSpPr/>
          <p:nvPr/>
        </p:nvSpPr>
        <p:spPr>
          <a:xfrm>
            <a:off x="8110728" y="1828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433"/>
                </a:solidFill>
              </a:rPr>
              <a:t>Versiones fijadas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65592" y="2194560"/>
            <a:ext cx="2423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02A43"/>
                </a:solidFill>
              </a:rPr>
              <a:t>Modelo, quantization, system prompt del reviewer y rubric bajo control de cambios.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85800" y="3913632"/>
            <a:ext cx="2971800" cy="1325880"/>
          </a:xfrm>
          <a:prstGeom prst="roundRect">
            <a:avLst>
              <a:gd name="adj" fmla="val 5517"/>
            </a:avLst>
          </a:prstGeom>
          <a:solidFill>
            <a:srgbClr val="E7E1F8"/>
          </a:solidFill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8" name="Text 16"/>
          <p:cNvSpPr/>
          <p:nvPr/>
        </p:nvSpPr>
        <p:spPr>
          <a:xfrm>
            <a:off x="886968" y="4114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D4E8B"/>
                </a:solidFill>
              </a:rPr>
              <a:t>Salida estructurada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41832" y="4480560"/>
            <a:ext cx="2423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02A43"/>
                </a:solidFill>
              </a:rPr>
              <a:t>JSON Schema con rule_id, severity, evidence, rationale, confidence y remediation.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4297680" y="3913632"/>
            <a:ext cx="2971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1" name="Text 19"/>
          <p:cNvSpPr/>
          <p:nvPr/>
        </p:nvSpPr>
        <p:spPr>
          <a:xfrm>
            <a:off x="4498848" y="4114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433"/>
                </a:solidFill>
              </a:rPr>
              <a:t>Baja variabilidad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53712" y="4480560"/>
            <a:ext cx="2423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02A43"/>
                </a:solidFill>
              </a:rPr>
              <a:t>Temperatura baja; findings LLM High/Critical empiezan como REVIEW humano.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7909560" y="3913632"/>
            <a:ext cx="2971800" cy="1325880"/>
          </a:xfrm>
          <a:prstGeom prst="roundRect">
            <a:avLst>
              <a:gd name="adj" fmla="val 5517"/>
            </a:avLst>
          </a:prstGeom>
          <a:solidFill>
            <a:srgbClr val="E7E1F8"/>
          </a:solidFill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4" name="Text 22"/>
          <p:cNvSpPr/>
          <p:nvPr/>
        </p:nvSpPr>
        <p:spPr>
          <a:xfrm>
            <a:off x="8110728" y="4114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D4E8B"/>
                </a:solidFill>
              </a:rPr>
              <a:t>Contexto estatico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165592" y="4480560"/>
            <a:ext cx="2423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02A43"/>
                </a:solidFill>
              </a:rPr>
              <a:t>Recibe findings de PromptSonar/pi_scan.py, pero debe citar evidencia textual propia.</a:t>
            </a:r>
            <a:endParaRPr lang="en-US" sz="11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7D78"/>
          </a:solidFill>
          <a:ln w="12700">
            <a:solidFill>
              <a:srgbClr val="2E7D7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Reviewer semantico: politica inicial e infraestructura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372600" y="3017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LLM local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12064" y="645566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Control 1.01 - Revision de seguridad de system prompts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8961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433"/>
                </a:solidFill>
              </a:rPr>
              <a:t>Politica de decision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DDF0E8"/>
          </a:solidFill>
          <a:ln w="12700">
            <a:solidFill>
              <a:srgbClr val="DDF0E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9" name="Text 7"/>
          <p:cNvSpPr/>
          <p:nvPr/>
        </p:nvSpPr>
        <p:spPr>
          <a:xfrm>
            <a:off x="868680" y="1463040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2E7D78"/>
                </a:solidFill>
              </a:rPr>
              <a:t>Scanner deterministico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3154680" y="1444752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02A43"/>
                </a:solidFill>
              </a:rPr>
              <a:t>Critical / High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120640" y="142646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8F2D2D"/>
                </a:solidFill>
              </a:rPr>
              <a:t>BLOCK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2039112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DDF0E8"/>
          </a:solidFill>
          <a:ln w="12700">
            <a:solidFill>
              <a:srgbClr val="DDF0E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3" name="Text 11"/>
          <p:cNvSpPr/>
          <p:nvPr/>
        </p:nvSpPr>
        <p:spPr>
          <a:xfrm>
            <a:off x="868680" y="2176272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2E7D78"/>
                </a:solidFill>
              </a:rPr>
              <a:t>Scanner deterministico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3154680" y="215798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02A43"/>
                </a:solidFill>
              </a:rPr>
              <a:t>Medium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120640" y="213969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</a:rPr>
              <a:t>REVIEW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2752344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E7E1F8"/>
          </a:solidFill>
          <a:ln w="12700">
            <a:solidFill>
              <a:srgbClr val="E7E1F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7" name="Text 15"/>
          <p:cNvSpPr/>
          <p:nvPr/>
        </p:nvSpPr>
        <p:spPr>
          <a:xfrm>
            <a:off x="868680" y="2889504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5D4E8B"/>
                </a:solidFill>
              </a:rPr>
              <a:t>LLM local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3154680" y="2871216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02A43"/>
                </a:solidFill>
              </a:rPr>
              <a:t>Critical / High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120640" y="28529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</a:rPr>
              <a:t>REVIEW inicial; posible BLOCK tras calibracion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" y="3465576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E7E1F8"/>
          </a:solidFill>
          <a:ln w="12700">
            <a:solidFill>
              <a:srgbClr val="E7E1F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1" name="Text 19"/>
          <p:cNvSpPr/>
          <p:nvPr/>
        </p:nvSpPr>
        <p:spPr>
          <a:xfrm>
            <a:off x="868680" y="3602736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5D4E8B"/>
                </a:solidFill>
              </a:rPr>
              <a:t>LLM local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3154680" y="3584448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02A43"/>
                </a:solidFill>
              </a:rPr>
              <a:t>Salida invalida / timeout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20640" y="356616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</a:rPr>
              <a:t>REVIEW o fail-closed segun criticidad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4709160"/>
            <a:ext cx="7498080" cy="594360"/>
          </a:xfrm>
          <a:prstGeom prst="roundRect">
            <a:avLst>
              <a:gd name="adj" fmla="val 12308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5" name="Text 23"/>
          <p:cNvSpPr/>
          <p:nvPr/>
        </p:nvSpPr>
        <p:spPr>
          <a:xfrm>
            <a:off x="960120" y="4892040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F4700"/>
                </a:solidFill>
              </a:rPr>
              <a:t>No bloquear solo por el LLM desde el dia 1: primero calibrar con corpus interno y medir estabilidad por modelo/rubric.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823960" y="8961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433"/>
                </a:solidFill>
              </a:rPr>
              <a:t>Infraestructura recomendada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823960" y="1417320"/>
            <a:ext cx="233172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02A43"/>
                </a:solidFill>
              </a:rPr>
              <a:t>• Ollama persistente en host interno.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02A43"/>
                </a:solidFill>
              </a:rPr>
              <a:t>• Acceso solo desde runners autorizados.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02A43"/>
                </a:solidFill>
              </a:rPr>
              <a:t>• Qwen3 14B cuantizado y versionado.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02A43"/>
                </a:solidFill>
              </a:rPr>
              <a:t>• GPU opcional; recomendada para latencia.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02A43"/>
                </a:solidFill>
              </a:rPr>
              <a:t>• Sin egress durante el analisis.</a:t>
            </a:r>
            <a:endParaRPr lang="en-US" sz="1280" dirty="0"/>
          </a:p>
        </p:txBody>
      </p:sp>
      <p:sp>
        <p:nvSpPr>
          <p:cNvPr id="28" name="Shape 26"/>
          <p:cNvSpPr/>
          <p:nvPr/>
        </p:nvSpPr>
        <p:spPr>
          <a:xfrm>
            <a:off x="8915400" y="416052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E7E1F8"/>
          </a:solidFill>
          <a:ln w="12700">
            <a:solidFill>
              <a:srgbClr val="E7E1F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9" name="Text 27"/>
          <p:cNvSpPr/>
          <p:nvPr/>
        </p:nvSpPr>
        <p:spPr>
          <a:xfrm>
            <a:off x="9052560" y="43251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5D4E8B"/>
                </a:solidFill>
              </a:rPr>
              <a:t>~9.3 GB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9052560" y="46634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02A43"/>
                </a:solidFill>
              </a:rPr>
              <a:t>modelo Q4 aproximado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7D78"/>
          </a:solidFill>
          <a:ln w="12700">
            <a:solidFill>
              <a:srgbClr val="2E7D7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Comparacion arquitectural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372600" y="3017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Trade-off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12064" y="645566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Control 1.01 - Revision de seguridad de system prompts</a:t>
            </a:r>
            <a:endParaRPr lang="en-US" sz="850" dirty="0"/>
          </a:p>
        </p:txBody>
      </p:sp>
      <p:pic>
        <p:nvPicPr>
          <p:cNvPr id="7" name="Image 0" descr="/mnt/data/docx_extract/word/media/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39" y="896112"/>
            <a:ext cx="5447563" cy="2880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37960" y="93268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433"/>
                </a:solidFill>
              </a:rPr>
              <a:t>Lectura ejecutiva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537960" y="1389888"/>
            <a:ext cx="420624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02A43"/>
                </a:solidFill>
              </a:rPr>
              <a:t>• Ambas propuestas comparten core: CI + prompts/*.txt + scanners estaticos + policy gate + SARIF + SonarQube.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02A43"/>
                </a:solidFill>
              </a:rPr>
              <a:t>• La diferencia real es la capa semantica y su costo operacional.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02A43"/>
                </a:solidFill>
              </a:rPr>
              <a:t>• La Propuesta 2 amplifica cobertura contextual, pero agrega servicio de inferencia y lifecycle de modelo.</a:t>
            </a:r>
            <a:endParaRPr lang="en-US" sz="1360" dirty="0"/>
          </a:p>
        </p:txBody>
      </p:sp>
      <p:sp>
        <p:nvSpPr>
          <p:cNvPr id="10" name="Shape 7"/>
          <p:cNvSpPr/>
          <p:nvPr/>
        </p:nvSpPr>
        <p:spPr>
          <a:xfrm>
            <a:off x="777240" y="4434840"/>
            <a:ext cx="22402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1" name="Text 8"/>
          <p:cNvSpPr/>
          <p:nvPr/>
        </p:nvSpPr>
        <p:spPr>
          <a:xfrm>
            <a:off x="914400" y="46177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433"/>
                </a:solidFill>
              </a:rPr>
              <a:t>Disclosure implicito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14400" y="498348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02A43"/>
                </a:solidFill>
              </a:rPr>
              <a:t>P1: Media  |  P2: Alta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3566160" y="4434840"/>
            <a:ext cx="22402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4" name="Text 11"/>
          <p:cNvSpPr/>
          <p:nvPr/>
        </p:nvSpPr>
        <p:spPr>
          <a:xfrm>
            <a:off x="3703320" y="46177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433"/>
                </a:solidFill>
              </a:rPr>
              <a:t>Agencia/permisos ambiguos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703320" y="498348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02A43"/>
                </a:solidFill>
              </a:rPr>
              <a:t>P1: Media  |  P2: Alta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6355080" y="4434840"/>
            <a:ext cx="22402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7" name="Text 14"/>
          <p:cNvSpPr/>
          <p:nvPr/>
        </p:nvSpPr>
        <p:spPr>
          <a:xfrm>
            <a:off x="6492240" y="46177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433"/>
                </a:solidFill>
              </a:rPr>
              <a:t>Contradicciones complejas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492240" y="498348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02A43"/>
                </a:solidFill>
              </a:rPr>
              <a:t>P1: Media  |  P2: Alta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9144000" y="4434840"/>
            <a:ext cx="22402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0" name="Text 17"/>
          <p:cNvSpPr/>
          <p:nvPr/>
        </p:nvSpPr>
        <p:spPr>
          <a:xfrm>
            <a:off x="9281160" y="46177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433"/>
                </a:solidFill>
              </a:rPr>
              <a:t>Reproducibilidad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9281160" y="498348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02A43"/>
                </a:solidFill>
              </a:rPr>
              <a:t>P1: Muy alta  |  P2: Alta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7D78"/>
          </a:solidFill>
          <a:ln w="12700">
            <a:solidFill>
              <a:srgbClr val="2E7D7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recomendada por escenario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372600" y="3017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Aplicacion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12064" y="645566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Control 1.01 - Revision de seguridad de system prompts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859536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433"/>
                </a:solidFill>
              </a:rPr>
              <a:t>El diseno permite una adopcion incremental: baseline obligatoria y capa LLM activada por riesgo.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158191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102A43"/>
                </a:solidFill>
              </a:rPr>
              <a:t>Implementar 1.01 rapido con casi cero infraestructura nueva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5806440" y="1508760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DDF0E8"/>
          </a:solidFill>
          <a:ln w="12700">
            <a:solidFill>
              <a:srgbClr val="DDF0E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0" name="Text 8"/>
          <p:cNvSpPr/>
          <p:nvPr/>
        </p:nvSpPr>
        <p:spPr>
          <a:xfrm>
            <a:off x="6016752" y="1673352"/>
            <a:ext cx="1572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E7D78"/>
                </a:solidFill>
              </a:rPr>
              <a:t>Propuesta 1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8092440" y="157276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02A43"/>
                </a:solidFill>
              </a:rPr>
              <a:t>Deterministica, local y facil de incorporar al CI.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777240" y="260604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102A43"/>
                </a:solidFill>
              </a:rPr>
              <a:t>Prompts con logica agentic compleja, autorizacion o tools</a:t>
            </a:r>
            <a:endParaRPr lang="en-US" sz="1360" dirty="0"/>
          </a:p>
        </p:txBody>
      </p:sp>
      <p:sp>
        <p:nvSpPr>
          <p:cNvPr id="13" name="Shape 11"/>
          <p:cNvSpPr/>
          <p:nvPr/>
        </p:nvSpPr>
        <p:spPr>
          <a:xfrm>
            <a:off x="5806440" y="2532888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E7E1F8"/>
          </a:solidFill>
          <a:ln w="12700">
            <a:solidFill>
              <a:srgbClr val="E7E1F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4" name="Text 12"/>
          <p:cNvSpPr/>
          <p:nvPr/>
        </p:nvSpPr>
        <p:spPr>
          <a:xfrm>
            <a:off x="6016752" y="2697480"/>
            <a:ext cx="1572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5D4E8B"/>
                </a:solidFill>
              </a:rPr>
              <a:t>Propuesta 2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8092440" y="259689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02A43"/>
                </a:solidFill>
              </a:rPr>
              <a:t>La semantica detecta ambiguedad y riesgo contextual.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777240" y="3630168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102A43"/>
                </a:solidFill>
              </a:rPr>
              <a:t>Gate con maxima reproducibilidad</a:t>
            </a:r>
            <a:endParaRPr lang="en-US" sz="1360" dirty="0"/>
          </a:p>
        </p:txBody>
      </p:sp>
      <p:sp>
        <p:nvSpPr>
          <p:cNvPr id="17" name="Shape 15"/>
          <p:cNvSpPr/>
          <p:nvPr/>
        </p:nvSpPr>
        <p:spPr>
          <a:xfrm>
            <a:off x="5806440" y="3557016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DDF0E8"/>
          </a:solidFill>
          <a:ln w="12700">
            <a:solidFill>
              <a:srgbClr val="DDF0E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8" name="Text 16"/>
          <p:cNvSpPr/>
          <p:nvPr/>
        </p:nvSpPr>
        <p:spPr>
          <a:xfrm>
            <a:off x="6016752" y="3721608"/>
            <a:ext cx="1572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E7D78"/>
                </a:solidFill>
              </a:rPr>
              <a:t>Propuesta 1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8092440" y="362102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02A43"/>
                </a:solidFill>
              </a:rPr>
              <a:t>La decision se basa en reglas deterministicas.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777240" y="4654296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102A43"/>
                </a:solidFill>
              </a:rPr>
              <a:t>Maxima superficie de revision sin enviar IP a proveedores</a:t>
            </a:r>
            <a:endParaRPr lang="en-US" sz="1360" dirty="0"/>
          </a:p>
        </p:txBody>
      </p:sp>
      <p:sp>
        <p:nvSpPr>
          <p:cNvPr id="21" name="Shape 19"/>
          <p:cNvSpPr/>
          <p:nvPr/>
        </p:nvSpPr>
        <p:spPr>
          <a:xfrm>
            <a:off x="5806440" y="4581144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E7E1F8"/>
          </a:solidFill>
          <a:ln w="12700">
            <a:solidFill>
              <a:srgbClr val="E7E1F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2" name="Text 20"/>
          <p:cNvSpPr/>
          <p:nvPr/>
        </p:nvSpPr>
        <p:spPr>
          <a:xfrm>
            <a:off x="6016752" y="4745736"/>
            <a:ext cx="1572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5D4E8B"/>
                </a:solidFill>
              </a:rPr>
              <a:t>Propuesta 2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8092440" y="464515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02A43"/>
                </a:solidFill>
              </a:rPr>
              <a:t>Razonamiento local con prompts dentro de la red.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777240" y="5760720"/>
            <a:ext cx="10287000" cy="475488"/>
          </a:xfrm>
          <a:prstGeom prst="roundRect">
            <a:avLst>
              <a:gd name="adj" fmla="val 15385"/>
            </a:avLst>
          </a:prstGeom>
          <a:solidFill>
            <a:srgbClr val="1E526D"/>
          </a:solidFill>
          <a:ln w="12700">
            <a:solidFill>
              <a:srgbClr val="1E526D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5" name="Text 23"/>
          <p:cNvSpPr/>
          <p:nvPr/>
        </p:nvSpPr>
        <p:spPr>
          <a:xfrm>
            <a:off x="1005840" y="5916168"/>
            <a:ext cx="9829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</a:rPr>
              <a:t>Recomendacion: implementar Propuesta 1 como core obligatorio y preparar interfaz de findings para sumar Propuesta 2 sin redisenar el pipeline.</a:t>
            </a:r>
            <a:endParaRPr lang="en-US" sz="11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7D78"/>
          </a:solidFill>
          <a:ln w="12700">
            <a:solidFill>
              <a:srgbClr val="2E7D7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objetivo evolutiva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372600" y="3017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Fases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12064" y="645566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Control 1.01 - Revision de seguridad de system prompts</a:t>
            </a:r>
            <a:endParaRPr lang="en-US" sz="850" dirty="0"/>
          </a:p>
        </p:txBody>
      </p:sp>
      <p:pic>
        <p:nvPicPr>
          <p:cNvPr id="7" name="Image 0" descr="/mnt/data/docx_extract/word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183" y="841248"/>
            <a:ext cx="4461018" cy="5074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0" y="9601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78"/>
                </a:solidFill>
              </a:rPr>
              <a:t>Fase A: baseline obligatoria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0" y="1417320"/>
            <a:ext cx="425196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102A43"/>
                </a:solidFill>
              </a:rPr>
              <a:t>• prompts/*.txt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102A43"/>
                </a:solidFill>
              </a:rPr>
              <a:t>• PromptSonar + pi_scan.py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102A43"/>
                </a:solidFill>
              </a:rPr>
              <a:t>• Normalizer + policy gate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102A43"/>
                </a:solidFill>
              </a:rPr>
              <a:t>• CI gate: PASS / REVIEW / BLOCK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102A43"/>
                </a:solidFill>
              </a:rPr>
              <a:t>• SARIF consolidado hacia SonarQube</a:t>
            </a:r>
            <a:endParaRPr lang="en-US" sz="1370" dirty="0"/>
          </a:p>
        </p:txBody>
      </p:sp>
      <p:sp>
        <p:nvSpPr>
          <p:cNvPr id="10" name="Text 7"/>
          <p:cNvSpPr/>
          <p:nvPr/>
        </p:nvSpPr>
        <p:spPr>
          <a:xfrm>
            <a:off x="6400800" y="33832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D4E8B"/>
                </a:solidFill>
              </a:rPr>
              <a:t>Criterio para Fase B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0" y="3840480"/>
            <a:ext cx="425196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102A43"/>
                </a:solidFill>
              </a:rPr>
              <a:t>• Agregar semantica solo si demuestra mejora medible.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102A43"/>
                </a:solidFill>
              </a:rPr>
              <a:t>• Comparar contra corpus de la baseline.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102A43"/>
                </a:solidFill>
              </a:rPr>
              <a:t>• Medir cobertura incremental, estabilidad, latencia, privacidad y costo operativo.</a:t>
            </a:r>
            <a:endParaRPr lang="en-US" sz="13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7D78"/>
          </a:solidFill>
          <a:ln w="12700">
            <a:solidFill>
              <a:srgbClr val="2E7D7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Productivizacion: hitos y Definition of Done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372600" y="3017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Roadmap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12064" y="645566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Control 1.01 - Revision de seguridad de system prompts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8" name="Shape 6"/>
          <p:cNvSpPr/>
          <p:nvPr/>
        </p:nvSpPr>
        <p:spPr>
          <a:xfrm>
            <a:off x="896112" y="1353312"/>
            <a:ext cx="384048" cy="384048"/>
          </a:xfrm>
          <a:prstGeom prst="ellipse">
            <a:avLst/>
          </a:prstGeom>
          <a:solidFill>
            <a:srgbClr val="2E7D78"/>
          </a:solidFill>
          <a:ln w="12700">
            <a:solidFill>
              <a:srgbClr val="2E7D7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9" name="Text 7"/>
          <p:cNvSpPr/>
          <p:nvPr/>
        </p:nvSpPr>
        <p:spPr>
          <a:xfrm>
            <a:off x="1019556" y="1472184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444752" y="131673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0B2433"/>
                </a:solidFill>
              </a:rPr>
              <a:t>Hardening reproducible</a:t>
            </a:r>
            <a:endParaRPr lang="en-US" sz="1370" dirty="0"/>
          </a:p>
        </p:txBody>
      </p:sp>
      <p:sp>
        <p:nvSpPr>
          <p:cNvPr id="11" name="Text 9"/>
          <p:cNvSpPr/>
          <p:nvPr/>
        </p:nvSpPr>
        <p:spPr>
          <a:xfrm>
            <a:off x="1444752" y="1664208"/>
            <a:ext cx="2057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02A43"/>
                </a:solidFill>
              </a:rPr>
              <a:t>Pinning, lockfiles, SBOM y artefacto controlado.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434840" y="1097280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3" name="Shape 11"/>
          <p:cNvSpPr/>
          <p:nvPr/>
        </p:nvSpPr>
        <p:spPr>
          <a:xfrm>
            <a:off x="4599432" y="1353312"/>
            <a:ext cx="384048" cy="384048"/>
          </a:xfrm>
          <a:prstGeom prst="ellipse">
            <a:avLst/>
          </a:prstGeom>
          <a:solidFill>
            <a:srgbClr val="2E7D78"/>
          </a:solidFill>
          <a:ln w="12700">
            <a:solidFill>
              <a:srgbClr val="2E7D7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4" name="Text 12"/>
          <p:cNvSpPr/>
          <p:nvPr/>
        </p:nvSpPr>
        <p:spPr>
          <a:xfrm>
            <a:off x="4722876" y="1472184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148072" y="131673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0B2433"/>
                </a:solidFill>
              </a:rPr>
              <a:t>Calidad del gate</a:t>
            </a:r>
            <a:endParaRPr lang="en-US" sz="1370" dirty="0"/>
          </a:p>
        </p:txBody>
      </p:sp>
      <p:sp>
        <p:nvSpPr>
          <p:cNvPr id="16" name="Text 14"/>
          <p:cNvSpPr/>
          <p:nvPr/>
        </p:nvSpPr>
        <p:spPr>
          <a:xfrm>
            <a:off x="5148072" y="1664208"/>
            <a:ext cx="2057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02A43"/>
                </a:solidFill>
              </a:rPr>
              <a:t>Corpus versionado, expected results y falsos positivos/negativos.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8138160" y="1097280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8" name="Shape 16"/>
          <p:cNvSpPr/>
          <p:nvPr/>
        </p:nvSpPr>
        <p:spPr>
          <a:xfrm>
            <a:off x="8302752" y="1353312"/>
            <a:ext cx="384048" cy="384048"/>
          </a:xfrm>
          <a:prstGeom prst="ellipse">
            <a:avLst/>
          </a:prstGeom>
          <a:solidFill>
            <a:srgbClr val="2E7D78"/>
          </a:solidFill>
          <a:ln w="12700">
            <a:solidFill>
              <a:srgbClr val="2E7D7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9" name="Text 17"/>
          <p:cNvSpPr/>
          <p:nvPr/>
        </p:nvSpPr>
        <p:spPr>
          <a:xfrm>
            <a:off x="8426196" y="1472184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51392" y="131673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0B2433"/>
                </a:solidFill>
              </a:rPr>
              <a:t>Decision central</a:t>
            </a:r>
            <a:endParaRPr lang="en-US" sz="1370" dirty="0"/>
          </a:p>
        </p:txBody>
      </p:sp>
      <p:sp>
        <p:nvSpPr>
          <p:cNvPr id="21" name="Text 19"/>
          <p:cNvSpPr/>
          <p:nvPr/>
        </p:nvSpPr>
        <p:spPr>
          <a:xfrm>
            <a:off x="8851392" y="1664208"/>
            <a:ext cx="2057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02A43"/>
                </a:solidFill>
              </a:rPr>
              <a:t>Schema comun, deduplicacion y PASS / REVIEW / BLOCK.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731520" y="2926080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3" name="Shape 21"/>
          <p:cNvSpPr/>
          <p:nvPr/>
        </p:nvSpPr>
        <p:spPr>
          <a:xfrm>
            <a:off x="896112" y="3182112"/>
            <a:ext cx="384048" cy="384048"/>
          </a:xfrm>
          <a:prstGeom prst="ellipse">
            <a:avLst/>
          </a:prstGeom>
          <a:solidFill>
            <a:srgbClr val="2E7D78"/>
          </a:solidFill>
          <a:ln w="12700">
            <a:solidFill>
              <a:srgbClr val="2E7D7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4" name="Text 22"/>
          <p:cNvSpPr/>
          <p:nvPr/>
        </p:nvSpPr>
        <p:spPr>
          <a:xfrm>
            <a:off x="1019556" y="3300984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444752" y="314553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0B2433"/>
                </a:solidFill>
              </a:rPr>
              <a:t>Integracion cliente</a:t>
            </a:r>
            <a:endParaRPr lang="en-US" sz="1370" dirty="0"/>
          </a:p>
        </p:txBody>
      </p:sp>
      <p:sp>
        <p:nvSpPr>
          <p:cNvPr id="26" name="Text 24"/>
          <p:cNvSpPr/>
          <p:nvPr/>
        </p:nvSpPr>
        <p:spPr>
          <a:xfrm>
            <a:off x="1444752" y="3493008"/>
            <a:ext cx="2057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02A43"/>
                </a:solidFill>
              </a:rPr>
              <a:t>Runtime autorizado, CI/CD y evidencia SARIF.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4434840" y="2926080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8" name="Shape 26"/>
          <p:cNvSpPr/>
          <p:nvPr/>
        </p:nvSpPr>
        <p:spPr>
          <a:xfrm>
            <a:off x="4599432" y="3182112"/>
            <a:ext cx="384048" cy="384048"/>
          </a:xfrm>
          <a:prstGeom prst="ellipse">
            <a:avLst/>
          </a:prstGeom>
          <a:solidFill>
            <a:srgbClr val="2E7D78"/>
          </a:solidFill>
          <a:ln w="12700">
            <a:solidFill>
              <a:srgbClr val="2E7D7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9" name="Text 27"/>
          <p:cNvSpPr/>
          <p:nvPr/>
        </p:nvSpPr>
        <p:spPr>
          <a:xfrm>
            <a:off x="4722876" y="3300984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148072" y="314553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0B2433"/>
                </a:solidFill>
              </a:rPr>
              <a:t>Operacion</a:t>
            </a:r>
            <a:endParaRPr lang="en-US" sz="1370" dirty="0"/>
          </a:p>
        </p:txBody>
      </p:sp>
      <p:sp>
        <p:nvSpPr>
          <p:cNvPr id="31" name="Text 29"/>
          <p:cNvSpPr/>
          <p:nvPr/>
        </p:nvSpPr>
        <p:spPr>
          <a:xfrm>
            <a:off x="5148072" y="3493008"/>
            <a:ext cx="2057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02A43"/>
                </a:solidFill>
              </a:rPr>
              <a:t>Failure handling, excepciones, ownership y expiraciones.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8138160" y="2926080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E7E1F8"/>
          </a:solidFill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3" name="Shape 31"/>
          <p:cNvSpPr/>
          <p:nvPr/>
        </p:nvSpPr>
        <p:spPr>
          <a:xfrm>
            <a:off x="8302752" y="3182112"/>
            <a:ext cx="384048" cy="384048"/>
          </a:xfrm>
          <a:prstGeom prst="ellipse">
            <a:avLst/>
          </a:prstGeom>
          <a:solidFill>
            <a:srgbClr val="5D4E8B"/>
          </a:solidFill>
          <a:ln w="12700">
            <a:solidFill>
              <a:srgbClr val="5D4E8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4" name="Text 32"/>
          <p:cNvSpPr/>
          <p:nvPr/>
        </p:nvSpPr>
        <p:spPr>
          <a:xfrm>
            <a:off x="8426196" y="3300984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6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851392" y="314553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5D4E8B"/>
                </a:solidFill>
              </a:rPr>
              <a:t>Extension semantica</a:t>
            </a:r>
            <a:endParaRPr lang="en-US" sz="1370" dirty="0"/>
          </a:p>
        </p:txBody>
      </p:sp>
      <p:sp>
        <p:nvSpPr>
          <p:cNvPr id="36" name="Text 34"/>
          <p:cNvSpPr/>
          <p:nvPr/>
        </p:nvSpPr>
        <p:spPr>
          <a:xfrm>
            <a:off x="8851392" y="3493008"/>
            <a:ext cx="2057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02A43"/>
                </a:solidFill>
              </a:rPr>
              <a:t>Solo con mejora incremental medible sobre la baseline.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731520" y="5138928"/>
            <a:ext cx="10515600" cy="694944"/>
          </a:xfrm>
          <a:prstGeom prst="roundRect">
            <a:avLst>
              <a:gd name="adj" fmla="val 10526"/>
            </a:avLst>
          </a:prstGeom>
          <a:solidFill>
            <a:srgbClr val="1E526D"/>
          </a:solidFill>
          <a:ln w="12700">
            <a:solidFill>
              <a:srgbClr val="1E526D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8" name="Text 36"/>
          <p:cNvSpPr/>
          <p:nvPr/>
        </p:nvSpPr>
        <p:spPr>
          <a:xfrm>
            <a:off x="960120" y="5358384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</a:rPr>
              <a:t>Baseline lista para implementacion controlada cuando existan artefactos fijados, corpus de regresion, gate documentado, CI reusable, SARIF validado, failure handling y proceso formal de excepciones.</a:t>
            </a:r>
            <a:endParaRPr lang="en-US" sz="11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7D78"/>
          </a:solidFill>
          <a:ln w="12700">
            <a:solidFill>
              <a:srgbClr val="2E7D7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Herramientas evaluadas y no seleccionadas como core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372600" y="3017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Anexo B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12064" y="645566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Control 1.01 - Revision de seguridad de system prompts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8686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0B2433"/>
                </a:solidFill>
              </a:rPr>
              <a:t>No se descartaron por falta de valor; se ubicaron fuera del core de 1.01 por scope, madurez o etapa del SDLC.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777240" y="1444752"/>
            <a:ext cx="2423160" cy="438912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9" name="Text 7"/>
          <p:cNvSpPr/>
          <p:nvPr/>
        </p:nvSpPr>
        <p:spPr>
          <a:xfrm>
            <a:off x="960120" y="159105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433"/>
                </a:solidFill>
              </a:rPr>
              <a:t>PromptLint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566160" y="1545336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</a:rPr>
              <a:t>Calidad/linting de instrucciones; no cubre seguridad 1.01 con suficiente profundidad.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2231136"/>
            <a:ext cx="2423160" cy="438912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2" name="Text 10"/>
          <p:cNvSpPr/>
          <p:nvPr/>
        </p:nvSpPr>
        <p:spPr>
          <a:xfrm>
            <a:off x="960120" y="2377440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433"/>
                </a:solidFill>
              </a:rPr>
              <a:t>Ferret Scan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66160" y="2331720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</a:rPr>
              <a:t>Muy amplio para AI CLI/MCP; scope mayor al directorio de prompts .txt.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017520"/>
            <a:ext cx="2423160" cy="438912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5" name="Text 13"/>
          <p:cNvSpPr/>
          <p:nvPr/>
        </p:nvSpPr>
        <p:spPr>
          <a:xfrm>
            <a:off x="960120" y="316382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433"/>
                </a:solidFill>
              </a:rPr>
              <a:t>ipi-check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66160" y="3118104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</a:rPr>
              <a:t>Arquitectura cercana, pero madurez/distribucion insuficiente para dependencia core.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3803904"/>
            <a:ext cx="2423160" cy="438912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8" name="Text 16"/>
          <p:cNvSpPr/>
          <p:nvPr/>
        </p:nvSpPr>
        <p:spPr>
          <a:xfrm>
            <a:off x="960120" y="3950208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433"/>
                </a:solidFill>
              </a:rPr>
              <a:t>Llama Prompt Guard 2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66160" y="3904488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</a:rPr>
              <a:t>Runtime classifier de jailbreak/injection; no audita diseno de system prompts.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4590288"/>
            <a:ext cx="2423160" cy="438912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1" name="Text 19"/>
          <p:cNvSpPr/>
          <p:nvPr/>
        </p:nvSpPr>
        <p:spPr>
          <a:xfrm>
            <a:off x="960120" y="473659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433"/>
                </a:solidFill>
              </a:rPr>
              <a:t>Promptfoo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566160" y="4690872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</a:rPr>
              <a:t>Dynamic testing/red-team; pertenece a evaluaciones posteriores, no static template review.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" y="5623560"/>
            <a:ext cx="9875520" cy="457200"/>
          </a:xfrm>
          <a:prstGeom prst="roundRect">
            <a:avLst>
              <a:gd name="adj" fmla="val 16000"/>
            </a:avLst>
          </a:prstGeom>
          <a:solidFill>
            <a:srgbClr val="E7F3EF"/>
          </a:solidFill>
          <a:ln w="12700">
            <a:solidFill>
              <a:srgbClr val="E7F3EF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4" name="Text 22"/>
          <p:cNvSpPr/>
          <p:nvPr/>
        </p:nvSpPr>
        <p:spPr>
          <a:xfrm>
            <a:off x="987552" y="5769864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2E7D78"/>
                </a:solidFill>
              </a:rPr>
              <a:t>Core seleccionado: PromptSonar + pi_scan.py + normalizer/policy gate + SARIF/SonarQube; otras herramientas se agregan por funcion, no por defecto.</a:t>
            </a:r>
            <a:endParaRPr lang="en-US" sz="11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433"/>
          </a:solidFill>
          <a:ln w="12700">
            <a:solidFill>
              <a:srgbClr val="0B2433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Recomendacion final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965960"/>
            <a:ext cx="88696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DDECF0"/>
                </a:solidFill>
              </a:rPr>
              <a:t>Implementar la Propuesta 1 como core obligatorio. Preparar la interfaz de findings para habilitar Propuesta 2 de forma incremental y reversible cuando exista evidencia de mejora medible.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22960" y="3840480"/>
            <a:ext cx="3474720" cy="329184"/>
          </a:xfrm>
          <a:prstGeom prst="roundRect">
            <a:avLst>
              <a:gd name="adj" fmla="val 22222"/>
            </a:avLst>
          </a:prstGeom>
          <a:solidFill>
            <a:srgbClr val="2E7D78"/>
          </a:solidFill>
          <a:ln w="12700">
            <a:solidFill>
              <a:srgbClr val="2E7D7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6" name="Text 4"/>
          <p:cNvSpPr/>
          <p:nvPr/>
        </p:nvSpPr>
        <p:spPr>
          <a:xfrm>
            <a:off x="896112" y="3918204"/>
            <a:ext cx="3328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Baseline: deterministica, local, reproducible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663440" y="3840480"/>
            <a:ext cx="3474720" cy="329184"/>
          </a:xfrm>
          <a:prstGeom prst="roundRect">
            <a:avLst>
              <a:gd name="adj" fmla="val 22222"/>
            </a:avLst>
          </a:prstGeom>
          <a:solidFill>
            <a:srgbClr val="5D4E8B"/>
          </a:solidFill>
          <a:ln w="12700">
            <a:solidFill>
              <a:srgbClr val="5D4E8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8" name="Text 6"/>
          <p:cNvSpPr/>
          <p:nvPr/>
        </p:nvSpPr>
        <p:spPr>
          <a:xfrm>
            <a:off x="4736592" y="3918204"/>
            <a:ext cx="3328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LLM local: extension condicional por riesgo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503920" y="3840480"/>
            <a:ext cx="2560320" cy="329184"/>
          </a:xfrm>
          <a:prstGeom prst="roundRect">
            <a:avLst>
              <a:gd name="adj" fmla="val 22222"/>
            </a:avLst>
          </a:prstGeom>
          <a:solidFill>
            <a:srgbClr val="F1C75B"/>
          </a:solidFill>
          <a:ln w="12700">
            <a:solidFill>
              <a:srgbClr val="F1C75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0" name="Text 8"/>
          <p:cNvSpPr/>
          <p:nvPr/>
        </p:nvSpPr>
        <p:spPr>
          <a:xfrm>
            <a:off x="8577072" y="3918204"/>
            <a:ext cx="2414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433"/>
                </a:solidFill>
              </a:rPr>
              <a:t>SonarQube: evidencia e historial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2960" y="62179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6D0"/>
                </a:solidFill>
              </a:rPr>
              <a:t>Control 1.01 - Revision de seguridad de system prompts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260df36-bc43-424c-8f44-c85226657b01}" enabled="0" method="" siteId="{f260df36-bc43-424c-8f44-c85226657b0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1470</Words>
  <Application>Microsoft Macintosh PowerPoint</Application>
  <PresentationFormat>Widescreen</PresentationFormat>
  <Paragraphs>216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Propuestas de arquitectura para revision de seguridad de System Prompts</dc:title>
  <dc:subject>Control 1.01 - Revision de seguridad de system prompts</dc:subject>
  <dc:creator>OpenAI</dc:creator>
  <cp:lastModifiedBy>Sebastian Gonzalez</cp:lastModifiedBy>
  <cp:revision>1</cp:revision>
  <dcterms:created xsi:type="dcterms:W3CDTF">2026-09-25T14:44:50Z</dcterms:created>
  <dcterms:modified xsi:type="dcterms:W3CDTF">2026-09-25T15:15:44Z</dcterms:modified>
</cp:coreProperties>
</file>